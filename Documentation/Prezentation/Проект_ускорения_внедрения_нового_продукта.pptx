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0"/>
  </p:notesMasterIdLst>
  <p:sldIdLst>
    <p:sldId id="270" r:id="rId3"/>
    <p:sldId id="273" r:id="rId4"/>
    <p:sldId id="257" r:id="rId5"/>
    <p:sldId id="258" r:id="rId6"/>
    <p:sldId id="259" r:id="rId7"/>
    <p:sldId id="260" r:id="rId8"/>
    <p:sldId id="275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74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E0D1DC-01EA-4F6B-B539-3DBC5DE2A3B2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6573CE-5D6F-44BF-8440-D768F492D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1989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23900" y="-13433"/>
            <a:ext cx="12259635" cy="690953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59533" y="5800567"/>
            <a:ext cx="110576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1259533" y="2358933"/>
            <a:ext cx="9839600" cy="316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7466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917584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667400" y="2379700"/>
            <a:ext cx="10580400" cy="15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8209947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Ваш макет 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21731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667400" y="1901959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31789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500"/>
              <a:buChar char="●"/>
              <a:defRPr sz="2000"/>
            </a:lvl1pPr>
            <a:lvl2pPr marL="1219170" lvl="1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○"/>
              <a:defRPr sz="1733"/>
            </a:lvl2pPr>
            <a:lvl3pPr marL="1828754" lvl="2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■"/>
              <a:defRPr sz="1733"/>
            </a:lvl3pPr>
            <a:lvl4pPr marL="2438339" lvl="3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●"/>
              <a:defRPr sz="1733"/>
            </a:lvl4pPr>
            <a:lvl5pPr marL="3047924" lvl="4" indent="-414856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733"/>
            </a:lvl5pPr>
            <a:lvl6pPr marL="3657509" lvl="5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■"/>
              <a:defRPr sz="1733"/>
            </a:lvl6pPr>
            <a:lvl7pPr marL="4267093" lvl="6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●"/>
              <a:defRPr sz="1733"/>
            </a:lvl7pPr>
            <a:lvl8pPr marL="4876678" lvl="7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○"/>
              <a:defRPr sz="1733"/>
            </a:lvl8pPr>
            <a:lvl9pPr marL="5486263" lvl="8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■"/>
              <a:defRPr sz="1733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694044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667400" y="1094951"/>
            <a:ext cx="11360800" cy="26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4267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667400" y="609751"/>
            <a:ext cx="103956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20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4180567" y="3971775"/>
            <a:ext cx="7808400" cy="7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20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4180567" y="4371975"/>
            <a:ext cx="78084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733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4180567" y="4883400"/>
            <a:ext cx="7808400" cy="13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733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679726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Разделительный слайд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68567" y="528525"/>
            <a:ext cx="102748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6133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321247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О себе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5189033" y="2288375"/>
            <a:ext cx="5855600" cy="7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2133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3067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3067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3067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3067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3067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3067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3067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3067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5189033" y="3003735"/>
            <a:ext cx="6793600" cy="33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733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457416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Раздел+описание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812100" y="1627833"/>
            <a:ext cx="53936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4267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812100" y="3888284"/>
            <a:ext cx="53936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448722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1219170" lvl="1" indent="-431789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828754" lvl="2" indent="-414856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2438339" lvl="3" indent="-414856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3047924" lvl="4" indent="-414856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3657509" lvl="5" indent="-414856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4267093" lvl="6" indent="-414856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4876678" lvl="7" indent="-414856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5486263" lvl="8" indent="-414856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42872536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21715596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53032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Слайд с кодом 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787300" y="1819967"/>
            <a:ext cx="10651200" cy="45500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1006300" y="2021928"/>
            <a:ext cx="10968400" cy="46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467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651984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Слайд с кодом 2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787300" y="1819967"/>
            <a:ext cx="10651200" cy="455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1006300" y="2021928"/>
            <a:ext cx="10968400" cy="46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467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2267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2267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2267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2267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2267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2267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2267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22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271562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Слайд КОД+ТЕКСТ 1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725400" y="1800567"/>
            <a:ext cx="7088400" cy="12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733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808267" y="2858975"/>
            <a:ext cx="10584800" cy="32860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1060067" y="2960051"/>
            <a:ext cx="10090800" cy="31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733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22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70666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Слайд КОД+ТЕКСТ 2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483067" y="1845665"/>
            <a:ext cx="6331600" cy="45244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667400" y="1966425"/>
            <a:ext cx="5904800" cy="46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733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7407033" y="1966425"/>
            <a:ext cx="4201600" cy="43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733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28475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65800" y="2105159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48656895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101266" y="-4289300"/>
            <a:ext cx="12545004" cy="1114729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247767" y="981371"/>
            <a:ext cx="10112400" cy="3237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defTabSz="1219170">
              <a:lnSpc>
                <a:spcPct val="90000"/>
              </a:lnSpc>
              <a:buClr>
                <a:srgbClr val="000000"/>
              </a:buClr>
            </a:pPr>
            <a:r>
              <a:rPr lang="ru-RU" sz="5400" b="0" i="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Ускорение внедрения нового продукта в сети межконтинентальных закусочных</a:t>
            </a:r>
            <a:r>
              <a:rPr lang="en-US" sz="5400" b="0" i="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5400" b="0" i="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«Замысловатость»</a:t>
            </a:r>
            <a:endParaRPr sz="6000" b="1" kern="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51601" y="358501"/>
            <a:ext cx="1096233" cy="37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839600" y="5517367"/>
            <a:ext cx="4703361" cy="5688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29288" y="5517367"/>
            <a:ext cx="5341948" cy="596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defTabSz="1219170">
              <a:lnSpc>
                <a:spcPct val="90000"/>
              </a:lnSpc>
              <a:buClr>
                <a:srgbClr val="000000"/>
              </a:buClr>
            </a:pPr>
            <a:r>
              <a:rPr lang="ru-RU" sz="2533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Roboto Medium"/>
              </a:rPr>
              <a:t>Системный аналитик. </a:t>
            </a:r>
            <a:r>
              <a:rPr lang="en-US" sz="2533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Roboto Medium"/>
              </a:rPr>
              <a:t>Team Lead</a:t>
            </a:r>
            <a:endParaRPr lang="ru-RU" sz="133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879632" y="4111591"/>
            <a:ext cx="2064601" cy="22259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2;p38">
            <a:extLst>
              <a:ext uri="{FF2B5EF4-FFF2-40B4-BE49-F238E27FC236}">
                <a16:creationId xmlns:a16="http://schemas.microsoft.com/office/drawing/2014/main" id="{4FA76579-5D33-4A6B-BC9B-6501BCD13674}"/>
              </a:ext>
            </a:extLst>
          </p:cNvPr>
          <p:cNvSpPr/>
          <p:nvPr/>
        </p:nvSpPr>
        <p:spPr>
          <a:xfrm>
            <a:off x="1517500" y="1988403"/>
            <a:ext cx="4996422" cy="501600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r>
              <a:rPr lang="ru" sz="1867" kern="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sz="1867" kern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73;p38">
            <a:extLst>
              <a:ext uri="{FF2B5EF4-FFF2-40B4-BE49-F238E27FC236}">
                <a16:creationId xmlns:a16="http://schemas.microsoft.com/office/drawing/2014/main" id="{45ACFF23-9CD7-475C-811B-F26D992EBA55}"/>
              </a:ext>
            </a:extLst>
          </p:cNvPr>
          <p:cNvSpPr/>
          <p:nvPr/>
        </p:nvSpPr>
        <p:spPr>
          <a:xfrm>
            <a:off x="1517500" y="2761989"/>
            <a:ext cx="4996422" cy="501600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r>
              <a:rPr lang="ru" sz="1867" kern="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Какие методологии использовались</a:t>
            </a:r>
            <a:endParaRPr sz="1867" kern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74;p38">
            <a:extLst>
              <a:ext uri="{FF2B5EF4-FFF2-40B4-BE49-F238E27FC236}">
                <a16:creationId xmlns:a16="http://schemas.microsoft.com/office/drawing/2014/main" id="{036E8FFF-1DD5-4DBE-BB14-F377F7B2FB9B}"/>
              </a:ext>
            </a:extLst>
          </p:cNvPr>
          <p:cNvSpPr/>
          <p:nvPr/>
        </p:nvSpPr>
        <p:spPr>
          <a:xfrm>
            <a:off x="1517498" y="3507394"/>
            <a:ext cx="4996423" cy="501600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r>
              <a:rPr lang="ru" sz="1867" kern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 sz="1867" kern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" name="Google Shape;175;p38">
            <a:extLst>
              <a:ext uri="{FF2B5EF4-FFF2-40B4-BE49-F238E27FC236}">
                <a16:creationId xmlns:a16="http://schemas.microsoft.com/office/drawing/2014/main" id="{730AE8E8-20BA-487E-AF25-E17F8B482FB3}"/>
              </a:ext>
            </a:extLst>
          </p:cNvPr>
          <p:cNvSpPr/>
          <p:nvPr/>
        </p:nvSpPr>
        <p:spPr>
          <a:xfrm>
            <a:off x="1530200" y="4319495"/>
            <a:ext cx="4996422" cy="501600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r>
              <a:rPr lang="ru" sz="1867" kern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 sz="1867" kern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" name="Google Shape;176;p38">
            <a:extLst>
              <a:ext uri="{FF2B5EF4-FFF2-40B4-BE49-F238E27FC236}">
                <a16:creationId xmlns:a16="http://schemas.microsoft.com/office/drawing/2014/main" id="{AD7F9E03-4DCD-44E5-882D-6ED1D9F0A681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V="1">
            <a:off x="1517500" y="2239203"/>
            <a:ext cx="12700" cy="773586"/>
          </a:xfrm>
          <a:prstGeom prst="bentConnector3">
            <a:avLst>
              <a:gd name="adj1" fmla="val 18000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" name="Google Shape;177;p38">
            <a:extLst>
              <a:ext uri="{FF2B5EF4-FFF2-40B4-BE49-F238E27FC236}">
                <a16:creationId xmlns:a16="http://schemas.microsoft.com/office/drawing/2014/main" id="{BED28F44-1A0B-4AA2-9E75-459018814AAB}"/>
              </a:ext>
            </a:extLst>
          </p:cNvPr>
          <p:cNvCxnSpPr>
            <a:cxnSpLocks/>
            <a:stCxn id="3" idx="1"/>
            <a:endCxn id="4" idx="1"/>
          </p:cNvCxnSpPr>
          <p:nvPr/>
        </p:nvCxnSpPr>
        <p:spPr>
          <a:xfrm rot="10800000" flipV="1">
            <a:off x="1517498" y="3012788"/>
            <a:ext cx="2" cy="745405"/>
          </a:xfrm>
          <a:prstGeom prst="bentConnector3">
            <a:avLst>
              <a:gd name="adj1" fmla="val 114301000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" name="Google Shape;178;p38">
            <a:extLst>
              <a:ext uri="{FF2B5EF4-FFF2-40B4-BE49-F238E27FC236}">
                <a16:creationId xmlns:a16="http://schemas.microsoft.com/office/drawing/2014/main" id="{C5D9FA52-2DD5-4467-908A-B5A21D8D0590}"/>
              </a:ext>
            </a:extLst>
          </p:cNvPr>
          <p:cNvCxnSpPr>
            <a:cxnSpLocks/>
            <a:stCxn id="4" idx="1"/>
            <a:endCxn id="5" idx="1"/>
          </p:cNvCxnSpPr>
          <p:nvPr/>
        </p:nvCxnSpPr>
        <p:spPr>
          <a:xfrm rot="10800000" flipH="1" flipV="1">
            <a:off x="1517498" y="3758193"/>
            <a:ext cx="12702" cy="812101"/>
          </a:xfrm>
          <a:prstGeom prst="bentConnector3">
            <a:avLst>
              <a:gd name="adj1" fmla="val -1799717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" name="Google Shape;179;p38">
            <a:extLst>
              <a:ext uri="{FF2B5EF4-FFF2-40B4-BE49-F238E27FC236}">
                <a16:creationId xmlns:a16="http://schemas.microsoft.com/office/drawing/2014/main" id="{B519AABD-BA47-4346-A2C1-095065B285E1}"/>
              </a:ext>
            </a:extLst>
          </p:cNvPr>
          <p:cNvCxnSpPr>
            <a:cxnSpLocks/>
            <a:stCxn id="5" idx="1"/>
            <a:endCxn id="10" idx="1"/>
          </p:cNvCxnSpPr>
          <p:nvPr/>
        </p:nvCxnSpPr>
        <p:spPr>
          <a:xfrm rot="10800000" flipV="1">
            <a:off x="1517516" y="4570294"/>
            <a:ext cx="12684" cy="711005"/>
          </a:xfrm>
          <a:prstGeom prst="bentConnector3">
            <a:avLst>
              <a:gd name="adj1" fmla="val 1902271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Google Shape;180;p38">
            <a:extLst>
              <a:ext uri="{FF2B5EF4-FFF2-40B4-BE49-F238E27FC236}">
                <a16:creationId xmlns:a16="http://schemas.microsoft.com/office/drawing/2014/main" id="{A7F14035-69DD-4EA5-A7F3-FF6C76141516}"/>
              </a:ext>
            </a:extLst>
          </p:cNvPr>
          <p:cNvSpPr/>
          <p:nvPr/>
        </p:nvSpPr>
        <p:spPr>
          <a:xfrm>
            <a:off x="1517516" y="5030500"/>
            <a:ext cx="5009106" cy="501600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r>
              <a:rPr lang="ru" sz="1867" kern="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1867" kern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171;p38">
            <a:extLst>
              <a:ext uri="{FF2B5EF4-FFF2-40B4-BE49-F238E27FC236}">
                <a16:creationId xmlns:a16="http://schemas.microsoft.com/office/drawing/2014/main" id="{37D65BA9-58F9-433D-B0FE-D40D2A155774}"/>
              </a:ext>
            </a:extLst>
          </p:cNvPr>
          <p:cNvSpPr txBox="1">
            <a:spLocks/>
          </p:cNvSpPr>
          <p:nvPr/>
        </p:nvSpPr>
        <p:spPr>
          <a:xfrm>
            <a:off x="718067" y="465299"/>
            <a:ext cx="3578156" cy="923289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План защиты</a:t>
            </a:r>
          </a:p>
        </p:txBody>
      </p:sp>
      <p:sp>
        <p:nvSpPr>
          <p:cNvPr id="20" name="Rectangle 6">
            <a:extLst>
              <a:ext uri="{FF2B5EF4-FFF2-40B4-BE49-F238E27FC236}">
                <a16:creationId xmlns:a16="http://schemas.microsoft.com/office/drawing/2014/main" id="{4A2EE0DC-4AD5-4E45-8F11-FF6BF051B69D}"/>
              </a:ext>
            </a:extLst>
          </p:cNvPr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A470CB-D9E2-4AEA-A082-3670548E7419}"/>
              </a:ext>
            </a:extLst>
          </p:cNvPr>
          <p:cNvSpPr txBox="1"/>
          <p:nvPr/>
        </p:nvSpPr>
        <p:spPr>
          <a:xfrm>
            <a:off x="11430000" y="664768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71865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498586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lang="ru-RU" dirty="0"/>
              <a:t>Цель и задачи проекта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2103120" cy="1143000"/>
          </a:xfrm>
          <a:prstGeom prst="roundRect">
            <a:avLst/>
          </a:prstGeom>
          <a:solidFill>
            <a:srgbClr val="F4CCCC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F2D3D"/>
                </a:solidFill>
              </a:defRPr>
            </a:pPr>
            <a:r>
              <a:t>СЕЙЧАС</a:t>
            </a:r>
            <a:br/>
            <a:r>
              <a:t>30+ дней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1430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41414"/>
                </a:solidFill>
              </a:defRPr>
            </a:pPr>
            <a:r>
              <a:t>Разные каналы: email, мессенджеры, бумага, Google Docs, баг-трекер</a:t>
            </a:r>
          </a:p>
          <a:p>
            <a:pPr>
              <a:spcAft>
                <a:spcPts val="700"/>
              </a:spcAft>
              <a:defRPr sz="1500">
                <a:solidFill>
                  <a:srgbClr val="141414"/>
                </a:solidFill>
              </a:defRPr>
            </a:pPr>
            <a:r>
              <a:t>Технолог — центральный диспетчер и узкое место</a:t>
            </a:r>
          </a:p>
          <a:p>
            <a:pPr>
              <a:spcAft>
                <a:spcPts val="700"/>
              </a:spcAft>
              <a:defRPr sz="1500">
                <a:solidFill>
                  <a:srgbClr val="141414"/>
                </a:solidFill>
              </a:defRPr>
            </a:pPr>
            <a:r>
              <a:t>Последовательные передачи между функциями</a:t>
            </a:r>
          </a:p>
          <a:p>
            <a:pPr>
              <a:spcAft>
                <a:spcPts val="700"/>
              </a:spcAft>
              <a:defRPr sz="1500">
                <a:solidFill>
                  <a:srgbClr val="141414"/>
                </a:solidFill>
              </a:defRPr>
            </a:pPr>
            <a:r>
              <a:t>Дублирование требований: технолог → BA → SA → IT</a:t>
            </a:r>
          </a:p>
          <a:p>
            <a:pPr>
              <a:spcAft>
                <a:spcPts val="700"/>
              </a:spcAft>
              <a:defRPr sz="1500">
                <a:solidFill>
                  <a:srgbClr val="141414"/>
                </a:solidFill>
              </a:defRPr>
            </a:pPr>
            <a:r>
              <a:t>Нет единого статуса и SLA по продукту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280160"/>
            <a:ext cx="2560320" cy="1143000"/>
          </a:xfrm>
          <a:prstGeom prst="roundRect">
            <a:avLst/>
          </a:prstGeom>
          <a:solidFill>
            <a:srgbClr val="E2EFDA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F2D3D"/>
                </a:solidFill>
              </a:defRPr>
            </a:pPr>
            <a:r>
              <a:t>ЦЕЛЬ</a:t>
            </a:r>
            <a:br/>
            <a:r>
              <a:t>14–20 дней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2651760"/>
            <a:ext cx="3474720" cy="1959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rPr dirty="0"/>
              <a:t>1 </a:t>
            </a:r>
            <a:r>
              <a:rPr dirty="0" err="1"/>
              <a:t>карточка</a:t>
            </a:r>
            <a:r>
              <a:rPr dirty="0"/>
              <a:t> </a:t>
            </a:r>
            <a:r>
              <a:rPr dirty="0" err="1"/>
              <a:t>продукта</a:t>
            </a:r>
            <a:r>
              <a:rPr dirty="0"/>
              <a:t> = </a:t>
            </a:r>
            <a:r>
              <a:rPr dirty="0" err="1"/>
              <a:t>единый</a:t>
            </a:r>
            <a:r>
              <a:rPr dirty="0"/>
              <a:t> </a:t>
            </a:r>
            <a:r>
              <a:rPr dirty="0" err="1"/>
              <a:t>источник</a:t>
            </a:r>
            <a:r>
              <a:rPr dirty="0"/>
              <a:t> </a:t>
            </a:r>
            <a:r>
              <a:rPr dirty="0" err="1"/>
              <a:t>правды</a:t>
            </a:r>
            <a:endParaRPr dirty="0"/>
          </a:p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rPr dirty="0" err="1"/>
              <a:t>Параллельная</a:t>
            </a:r>
            <a:r>
              <a:rPr dirty="0"/>
              <a:t> </a:t>
            </a:r>
            <a:r>
              <a:rPr dirty="0" err="1"/>
              <a:t>подготовка</a:t>
            </a:r>
            <a:r>
              <a:rPr dirty="0"/>
              <a:t> </a:t>
            </a:r>
            <a:r>
              <a:rPr dirty="0" err="1"/>
              <a:t>операционных</a:t>
            </a:r>
            <a:r>
              <a:rPr dirty="0"/>
              <a:t>, </a:t>
            </a:r>
            <a:r>
              <a:rPr dirty="0" err="1"/>
              <a:t>коммерческих</a:t>
            </a:r>
            <a:r>
              <a:rPr dirty="0"/>
              <a:t> и IT-</a:t>
            </a:r>
            <a:r>
              <a:rPr dirty="0" err="1"/>
              <a:t>работ</a:t>
            </a:r>
            <a:endParaRPr dirty="0"/>
          </a:p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rPr dirty="0"/>
              <a:t>WIP-</a:t>
            </a:r>
            <a:r>
              <a:rPr dirty="0" err="1"/>
              <a:t>лимиты</a:t>
            </a:r>
            <a:r>
              <a:rPr dirty="0"/>
              <a:t> и pull-</a:t>
            </a:r>
            <a:r>
              <a:rPr dirty="0" err="1"/>
              <a:t>поток</a:t>
            </a:r>
            <a:endParaRPr dirty="0"/>
          </a:p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rPr dirty="0"/>
              <a:t>SLA и </a:t>
            </a:r>
            <a:r>
              <a:rPr dirty="0" err="1"/>
              <a:t>визуальная</a:t>
            </a:r>
            <a:r>
              <a:rPr dirty="0"/>
              <a:t> </a:t>
            </a:r>
            <a:r>
              <a:rPr dirty="0" err="1"/>
              <a:t>эскалация</a:t>
            </a:r>
            <a:r>
              <a:rPr dirty="0"/>
              <a:t> </a:t>
            </a:r>
            <a:r>
              <a:rPr dirty="0" err="1"/>
              <a:t>блокеров</a:t>
            </a:r>
            <a:endParaRPr dirty="0"/>
          </a:p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rPr dirty="0" err="1"/>
              <a:t>Один</a:t>
            </a:r>
            <a:r>
              <a:rPr dirty="0"/>
              <a:t> </a:t>
            </a:r>
            <a:r>
              <a:rPr lang="ru-RU" dirty="0"/>
              <a:t>руководитель проекта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644825" y="6647688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450001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Ключевой</a:t>
            </a:r>
            <a:r>
              <a:rPr dirty="0"/>
              <a:t> </a:t>
            </a:r>
            <a:r>
              <a:rPr dirty="0" err="1"/>
              <a:t>подход</a:t>
            </a:r>
            <a:r>
              <a:rPr dirty="0"/>
              <a:t> к </a:t>
            </a:r>
            <a:r>
              <a:rPr dirty="0" err="1"/>
              <a:t>решению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685800" y="1143000"/>
            <a:ext cx="502920" cy="50292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1F2D3D"/>
                </a:solidFill>
              </a:defRPr>
            </a:pPr>
            <a: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1124712"/>
            <a:ext cx="2468880" cy="566928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t>Единая карточка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124712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rPr dirty="0" err="1"/>
              <a:t>Все</a:t>
            </a:r>
            <a:r>
              <a:rPr dirty="0"/>
              <a:t> </a:t>
            </a:r>
            <a:r>
              <a:rPr dirty="0" err="1"/>
              <a:t>требования</a:t>
            </a:r>
            <a:r>
              <a:rPr dirty="0"/>
              <a:t>, </a:t>
            </a:r>
            <a:r>
              <a:rPr dirty="0" err="1"/>
              <a:t>решения</a:t>
            </a:r>
            <a:r>
              <a:rPr dirty="0"/>
              <a:t>, </a:t>
            </a:r>
            <a:r>
              <a:rPr dirty="0" err="1"/>
              <a:t>сроки</a:t>
            </a:r>
            <a:r>
              <a:rPr dirty="0"/>
              <a:t> и </a:t>
            </a:r>
            <a:r>
              <a:rPr dirty="0" err="1"/>
              <a:t>ответственные</a:t>
            </a:r>
            <a:r>
              <a:rPr dirty="0"/>
              <a:t> в </a:t>
            </a:r>
            <a:r>
              <a:rPr dirty="0" err="1"/>
              <a:t>одном</a:t>
            </a:r>
            <a:r>
              <a:rPr dirty="0"/>
              <a:t> </a:t>
            </a:r>
            <a:r>
              <a:rPr dirty="0" err="1"/>
              <a:t>месте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85800" y="2130552"/>
            <a:ext cx="502920" cy="50292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1F2D3D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2112264"/>
            <a:ext cx="2468880" cy="566928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t>Единый поток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112264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rPr dirty="0" err="1"/>
              <a:t>Одна</a:t>
            </a:r>
            <a:r>
              <a:rPr dirty="0"/>
              <a:t> Kanban-</a:t>
            </a:r>
            <a:r>
              <a:rPr dirty="0" err="1"/>
              <a:t>доска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идеи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</a:t>
            </a:r>
            <a:r>
              <a:rPr dirty="0" err="1"/>
              <a:t>запуска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685800" y="3118104"/>
            <a:ext cx="502920" cy="50292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1F2D3D"/>
                </a:solidFill>
              </a:defRPr>
            </a:pPr>
            <a: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3099816"/>
            <a:ext cx="2468880" cy="566928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t>Параллелизация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3099816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t>Закупки, логистика, HR, маркетинг и IT стартуют без лишних ожиданий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105656"/>
            <a:ext cx="502920" cy="50292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1F2D3D"/>
                </a:solidFill>
              </a:defRPr>
            </a:pPr>
            <a: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4087368"/>
            <a:ext cx="2468880" cy="566928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rPr dirty="0"/>
              <a:t>WIP-</a:t>
            </a:r>
            <a:r>
              <a:rPr dirty="0" err="1"/>
              <a:t>лимиты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3977639" y="4087368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t>Не запускаем больше задач, чем система способна обработать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093208"/>
            <a:ext cx="502920" cy="50292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1F2D3D"/>
                </a:solidFill>
              </a:defRPr>
            </a:pPr>
            <a: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5074920"/>
            <a:ext cx="2468880" cy="566928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t>Управление по данным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5074920"/>
            <a:ext cx="7315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rPr dirty="0"/>
              <a:t>Lead </a:t>
            </a:r>
            <a:r>
              <a:rPr lang="en-US" dirty="0"/>
              <a:t>T</a:t>
            </a:r>
            <a:r>
              <a:rPr dirty="0"/>
              <a:t>ime, </a:t>
            </a:r>
            <a:r>
              <a:rPr lang="en-US" dirty="0"/>
              <a:t>C</a:t>
            </a:r>
            <a:r>
              <a:rPr dirty="0"/>
              <a:t>ycle </a:t>
            </a:r>
            <a:r>
              <a:rPr lang="en-US" dirty="0"/>
              <a:t>T</a:t>
            </a:r>
            <a:r>
              <a:rPr dirty="0"/>
              <a:t>ime, </a:t>
            </a:r>
            <a:r>
              <a:rPr lang="en-US" dirty="0"/>
              <a:t>T</a:t>
            </a:r>
            <a:r>
              <a:rPr dirty="0"/>
              <a:t>hroughput, </a:t>
            </a:r>
            <a:r>
              <a:rPr lang="en-US" dirty="0"/>
              <a:t>B</a:t>
            </a:r>
            <a:r>
              <a:rPr dirty="0"/>
              <a:t>locked </a:t>
            </a:r>
            <a:r>
              <a:rPr lang="en-US" dirty="0"/>
              <a:t>T</a:t>
            </a:r>
            <a:r>
              <a:rPr dirty="0"/>
              <a:t>ime и SLA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644825" y="6647688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6917856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Почему</a:t>
            </a:r>
            <a:r>
              <a:rPr dirty="0"/>
              <a:t> Kanban — </a:t>
            </a:r>
            <a:r>
              <a:rPr dirty="0" err="1"/>
              <a:t>подходящая</a:t>
            </a:r>
            <a:r>
              <a:rPr dirty="0"/>
              <a:t> </a:t>
            </a:r>
            <a:r>
              <a:rPr dirty="0" err="1"/>
              <a:t>методология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60204"/>
              </p:ext>
            </p:extLst>
          </p:nvPr>
        </p:nvGraphicFramePr>
        <p:xfrm>
          <a:off x="411480" y="794209"/>
          <a:ext cx="107899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Критерий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Kanban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Scrum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Waterfall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Lean Startup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Тип задачи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✓ </a:t>
                      </a:r>
                      <a:r>
                        <a:rPr dirty="0" err="1"/>
                        <a:t>Сквозной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операционный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поток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△ </a:t>
                      </a:r>
                      <a:r>
                        <a:rPr dirty="0" err="1"/>
                        <a:t>Итерационная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разработка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— </a:t>
                      </a:r>
                      <a:r>
                        <a:rPr dirty="0" err="1"/>
                        <a:t>Последовательный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проект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△ </a:t>
                      </a:r>
                      <a:r>
                        <a:rPr dirty="0" err="1"/>
                        <a:t>Проверка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гипотез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Много отделов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✓ </a:t>
                      </a:r>
                      <a:r>
                        <a:rPr dirty="0" err="1"/>
                        <a:t>Сильная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сторона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△ </a:t>
                      </a:r>
                      <a:r>
                        <a:rPr dirty="0" err="1"/>
                        <a:t>Нужна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единая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команда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△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△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WIP и узкие места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✓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△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—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△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Постепенная подача работы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✓ Pull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△ </a:t>
                      </a:r>
                      <a:r>
                        <a:rPr dirty="0" err="1"/>
                        <a:t>Спринты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— </a:t>
                      </a:r>
                      <a:r>
                        <a:rPr dirty="0" err="1"/>
                        <a:t>Последовательно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✓ </a:t>
                      </a:r>
                      <a:r>
                        <a:rPr dirty="0" err="1"/>
                        <a:t>Итерации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MVP/эксперименты обязательны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✓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✓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✓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—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Главный фокус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✓ </a:t>
                      </a:r>
                      <a:r>
                        <a:rPr dirty="0" err="1"/>
                        <a:t>Скорость</a:t>
                      </a:r>
                      <a:r>
                        <a:rPr dirty="0"/>
                        <a:t> и </a:t>
                      </a:r>
                      <a:r>
                        <a:rPr dirty="0" err="1"/>
                        <a:t>предсказуемость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потока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△ </a:t>
                      </a:r>
                      <a:r>
                        <a:rPr dirty="0" err="1"/>
                        <a:t>Инкремент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продукта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— </a:t>
                      </a:r>
                      <a:r>
                        <a:rPr dirty="0" err="1"/>
                        <a:t>План</a:t>
                      </a:r>
                      <a:r>
                        <a:rPr dirty="0"/>
                        <a:t> и </a:t>
                      </a:r>
                      <a:r>
                        <a:rPr dirty="0" err="1"/>
                        <a:t>последовательность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△ </a:t>
                      </a:r>
                      <a:r>
                        <a:rPr dirty="0" err="1"/>
                        <a:t>Обучение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через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эксперимент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097280" y="6057900"/>
            <a:ext cx="9966960" cy="502920"/>
          </a:xfrm>
          <a:prstGeom prst="roundRect">
            <a:avLst/>
          </a:prstGeom>
          <a:solidFill>
            <a:srgbClr val="E2EFDA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rPr dirty="0" err="1"/>
              <a:t>Выбор</a:t>
            </a:r>
            <a:r>
              <a:rPr dirty="0"/>
              <a:t>: K</a:t>
            </a:r>
            <a:r>
              <a:rPr lang="en-US" dirty="0"/>
              <a:t>anban</a:t>
            </a:r>
            <a:r>
              <a:rPr dirty="0"/>
              <a:t> — </a:t>
            </a:r>
            <a:r>
              <a:rPr dirty="0" err="1"/>
              <a:t>потому</a:t>
            </a:r>
            <a:r>
              <a:rPr dirty="0"/>
              <a:t>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основная</a:t>
            </a:r>
            <a:r>
              <a:rPr dirty="0"/>
              <a:t> </a:t>
            </a:r>
            <a:r>
              <a:rPr dirty="0" err="1"/>
              <a:t>проблема</a:t>
            </a:r>
            <a:r>
              <a:rPr dirty="0"/>
              <a:t> </a:t>
            </a:r>
            <a:r>
              <a:rPr dirty="0" err="1"/>
              <a:t>проекта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в </a:t>
            </a:r>
            <a:r>
              <a:rPr dirty="0" err="1"/>
              <a:t>разработке</a:t>
            </a:r>
            <a:r>
              <a:rPr dirty="0"/>
              <a:t> </a:t>
            </a:r>
            <a:r>
              <a:rPr dirty="0" err="1"/>
              <a:t>блюда</a:t>
            </a:r>
            <a:r>
              <a:rPr dirty="0"/>
              <a:t>, а в </a:t>
            </a:r>
            <a:r>
              <a:rPr dirty="0" err="1"/>
              <a:t>потере</a:t>
            </a:r>
            <a:r>
              <a:rPr dirty="0"/>
              <a:t> </a:t>
            </a:r>
            <a:r>
              <a:rPr dirty="0" err="1"/>
              <a:t>времени</a:t>
            </a:r>
            <a:r>
              <a:rPr dirty="0"/>
              <a:t> </a:t>
            </a:r>
            <a:r>
              <a:rPr dirty="0" err="1"/>
              <a:t>между</a:t>
            </a:r>
            <a:r>
              <a:rPr dirty="0"/>
              <a:t> </a:t>
            </a:r>
            <a:r>
              <a:rPr dirty="0" err="1"/>
              <a:t>функциями</a:t>
            </a:r>
            <a:r>
              <a:rPr dirty="0"/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644825" y="6647688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lang="en-US" dirty="0"/>
              <a:t>5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56DD65-FD7B-4133-A578-DCF6D584180A}"/>
              </a:ext>
            </a:extLst>
          </p:cNvPr>
          <p:cNvSpPr txBox="1"/>
          <p:nvPr/>
        </p:nvSpPr>
        <p:spPr>
          <a:xfrm>
            <a:off x="411480" y="5274769"/>
            <a:ext cx="117805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9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Легенда:</a:t>
            </a:r>
            <a:endParaRPr lang="ru-RU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9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</a:t>
            </a:r>
            <a:r>
              <a:rPr lang="ru-RU" sz="9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✓</a:t>
            </a:r>
            <a:r>
              <a:rPr lang="en-US" sz="9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”</a:t>
            </a:r>
            <a:r>
              <a:rPr lang="ru-RU" sz="9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— хорошо подходит</a:t>
            </a:r>
            <a:br>
              <a:rPr lang="ru-RU"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</a:t>
            </a:r>
            <a:r>
              <a:rPr lang="ru-RU" sz="9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△</a:t>
            </a:r>
            <a:r>
              <a:rPr lang="en-US" sz="9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”</a:t>
            </a:r>
            <a:r>
              <a:rPr lang="ru-RU" sz="9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— подходит с ограничениями</a:t>
            </a:r>
            <a:br>
              <a:rPr lang="ru-RU"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</a:t>
            </a:r>
            <a:r>
              <a:rPr lang="ru-RU" sz="9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—</a:t>
            </a:r>
            <a:r>
              <a:rPr lang="en-US" sz="9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”</a:t>
            </a:r>
            <a:r>
              <a:rPr lang="ru-RU" sz="9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— не соответствует задаче</a:t>
            </a:r>
            <a:endParaRPr lang="ru-RU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709758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Целевая</a:t>
            </a:r>
            <a:r>
              <a:rPr dirty="0"/>
              <a:t> Kanban-</a:t>
            </a:r>
            <a:r>
              <a:rPr dirty="0" err="1"/>
              <a:t>доска</a:t>
            </a:r>
            <a:r>
              <a:rPr dirty="0"/>
              <a:t> и </a:t>
            </a:r>
            <a:r>
              <a:rPr dirty="0" err="1"/>
              <a:t>управление</a:t>
            </a:r>
            <a:r>
              <a:rPr dirty="0"/>
              <a:t> </a:t>
            </a:r>
            <a:r>
              <a:rPr dirty="0" err="1"/>
              <a:t>потоком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320040" y="1234440"/>
            <a:ext cx="1691640" cy="82296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Backlog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240280"/>
            <a:ext cx="132588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без WIP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8568" y="1234440"/>
            <a:ext cx="1691640" cy="82296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Рецептура</a:t>
            </a:r>
            <a:br/>
            <a:r>
              <a:t>&amp; спецификация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1448" y="2240280"/>
            <a:ext cx="132588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WIP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97096" y="1234440"/>
            <a:ext cx="1691640" cy="82296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Кросс-функциональная</a:t>
            </a:r>
            <a:br/>
            <a:r>
              <a:t>подготовка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2240280"/>
            <a:ext cx="132588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WIP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1234440"/>
            <a:ext cx="1691640" cy="82296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4" y="2240280"/>
            <a:ext cx="132588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WIP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234440"/>
            <a:ext cx="1691640" cy="82296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Готово</a:t>
            </a:r>
            <a:br/>
            <a:r>
              <a:t>к запуску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57031" y="2240280"/>
            <a:ext cx="132588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WIP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12680" y="1234440"/>
            <a:ext cx="1691640" cy="822960"/>
          </a:xfrm>
          <a:prstGeom prst="roundRect">
            <a:avLst/>
          </a:prstGeom>
          <a:solidFill>
            <a:srgbClr val="E2EFDA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Запуск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95560" y="2240280"/>
            <a:ext cx="132588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WIP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2788920"/>
            <a:ext cx="135331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Блюдо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788920"/>
            <a:ext cx="135331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Блюдо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1688" y="3657600"/>
            <a:ext cx="135331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Блюдо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216" y="2788920"/>
            <a:ext cx="135331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Блюдо 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3657600"/>
            <a:ext cx="135331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Блюдо 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0216" y="4526280"/>
            <a:ext cx="135331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Блюдо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38744" y="2788920"/>
            <a:ext cx="135331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Блюдо 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38744" y="3657600"/>
            <a:ext cx="135331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Блюдо 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77272" y="2788920"/>
            <a:ext cx="135331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F2D3D"/>
                </a:solidFill>
              </a:defRPr>
            </a:pPr>
            <a:r>
              <a:t>Блюдо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349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41414"/>
                </a:solidFill>
              </a:defRPr>
            </a:pPr>
            <a:r>
              <a:rPr dirty="0"/>
              <a:t>Pull: </a:t>
            </a:r>
            <a:r>
              <a:rPr dirty="0" err="1"/>
              <a:t>следующий</a:t>
            </a:r>
            <a:r>
              <a:rPr dirty="0"/>
              <a:t> </a:t>
            </a:r>
            <a:r>
              <a:rPr dirty="0" err="1"/>
              <a:t>этап</a:t>
            </a:r>
            <a:r>
              <a:rPr dirty="0"/>
              <a:t> </a:t>
            </a:r>
            <a:r>
              <a:rPr dirty="0" err="1"/>
              <a:t>забирает</a:t>
            </a:r>
            <a:r>
              <a:rPr dirty="0"/>
              <a:t> </a:t>
            </a:r>
            <a:r>
              <a:rPr dirty="0" err="1"/>
              <a:t>карточку</a:t>
            </a:r>
            <a:r>
              <a:rPr dirty="0"/>
              <a:t>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наличии</a:t>
            </a:r>
            <a:r>
              <a:rPr dirty="0"/>
              <a:t> </a:t>
            </a:r>
            <a:r>
              <a:rPr dirty="0" err="1"/>
              <a:t>свободного</a:t>
            </a:r>
            <a:r>
              <a:rPr dirty="0"/>
              <a:t> WIP-</a:t>
            </a:r>
            <a:r>
              <a:rPr dirty="0" err="1"/>
              <a:t>слота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300">
                <a:solidFill>
                  <a:srgbClr val="141414"/>
                </a:solidFill>
              </a:defRPr>
            </a:pPr>
            <a:r>
              <a:rPr dirty="0"/>
              <a:t>Blocked: </a:t>
            </a:r>
            <a:r>
              <a:rPr dirty="0" err="1"/>
              <a:t>отдельный</a:t>
            </a:r>
            <a:r>
              <a:rPr dirty="0"/>
              <a:t> </a:t>
            </a:r>
            <a:r>
              <a:rPr dirty="0" err="1"/>
              <a:t>статус</a:t>
            </a:r>
            <a:r>
              <a:rPr dirty="0"/>
              <a:t>; </a:t>
            </a:r>
            <a:r>
              <a:rPr dirty="0" err="1"/>
              <a:t>блокер</a:t>
            </a:r>
            <a:r>
              <a:rPr dirty="0"/>
              <a:t> </a:t>
            </a:r>
            <a:r>
              <a:rPr dirty="0" err="1"/>
              <a:t>виден</a:t>
            </a:r>
            <a:r>
              <a:rPr dirty="0"/>
              <a:t> </a:t>
            </a:r>
            <a:r>
              <a:rPr dirty="0" err="1"/>
              <a:t>владельцу</a:t>
            </a:r>
            <a:r>
              <a:rPr dirty="0"/>
              <a:t> </a:t>
            </a:r>
            <a:r>
              <a:rPr dirty="0" err="1"/>
              <a:t>потока</a:t>
            </a:r>
            <a:r>
              <a:rPr dirty="0"/>
              <a:t> и </a:t>
            </a:r>
            <a:r>
              <a:rPr dirty="0" err="1"/>
              <a:t>эскалируется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300">
                <a:solidFill>
                  <a:srgbClr val="141414"/>
                </a:solidFill>
              </a:defRPr>
            </a:pPr>
            <a:r>
              <a:rPr dirty="0" err="1"/>
              <a:t>Общий</a:t>
            </a:r>
            <a:r>
              <a:rPr dirty="0"/>
              <a:t> </a:t>
            </a:r>
            <a:r>
              <a:rPr dirty="0" err="1"/>
              <a:t>системный</a:t>
            </a:r>
            <a:r>
              <a:rPr dirty="0"/>
              <a:t> WIP: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более</a:t>
            </a:r>
            <a:r>
              <a:rPr dirty="0"/>
              <a:t> 3 </a:t>
            </a:r>
            <a:r>
              <a:rPr dirty="0" err="1"/>
              <a:t>новых</a:t>
            </a:r>
            <a:r>
              <a:rPr dirty="0"/>
              <a:t> </a:t>
            </a:r>
            <a:r>
              <a:rPr dirty="0" err="1"/>
              <a:t>продуктов</a:t>
            </a:r>
            <a:r>
              <a:rPr dirty="0"/>
              <a:t> </a:t>
            </a:r>
            <a:r>
              <a:rPr dirty="0" err="1"/>
              <a:t>одновременно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300">
                <a:solidFill>
                  <a:srgbClr val="141414"/>
                </a:solidFill>
              </a:defRPr>
            </a:pPr>
            <a:r>
              <a:rPr dirty="0" err="1"/>
              <a:t>Участник</a:t>
            </a:r>
            <a:r>
              <a:rPr dirty="0"/>
              <a:t>: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более</a:t>
            </a:r>
            <a:r>
              <a:rPr dirty="0"/>
              <a:t> 1–2 </a:t>
            </a:r>
            <a:r>
              <a:rPr dirty="0" err="1"/>
              <a:t>активных</a:t>
            </a:r>
            <a:r>
              <a:rPr dirty="0"/>
              <a:t> </a:t>
            </a:r>
            <a:r>
              <a:rPr dirty="0" err="1"/>
              <a:t>задач</a:t>
            </a:r>
            <a:r>
              <a:rPr dirty="0"/>
              <a:t> </a:t>
            </a:r>
            <a:r>
              <a:rPr dirty="0" err="1"/>
              <a:t>одновременно</a:t>
            </a:r>
            <a:r>
              <a:rPr dirty="0"/>
              <a:t>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644825" y="6647688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lang="en-US" dirty="0"/>
              <a:t>6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3488263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500" b="1">
                <a:solidFill>
                  <a:srgbClr val="1F2D3D"/>
                </a:solidFill>
              </a:defRPr>
            </a:pPr>
            <a:r>
              <a:rPr kumimoji="0" sz="2500" b="1" i="0" u="none" strike="noStrike" kern="1200" cap="none" spc="0" normalizeH="0" baseline="0" noProof="0" dirty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 BE: </a:t>
            </a:r>
            <a:r>
              <a:rPr kumimoji="0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целевой</a:t>
            </a:r>
            <a:r>
              <a:rPr kumimoji="0" sz="2500" b="1" i="0" u="none" strike="noStrike" kern="1200" cap="none" spc="0" normalizeH="0" baseline="0" noProof="0" dirty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процесс</a:t>
            </a:r>
            <a:endParaRPr kumimoji="0" sz="2500" b="1" i="0" u="none" strike="noStrike" kern="1200" cap="none" spc="0" normalizeH="0" baseline="0" noProof="0" dirty="0">
              <a:ln>
                <a:noFill/>
              </a:ln>
              <a:solidFill>
                <a:srgbClr val="1F2D3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>
                <a:solidFill>
                  <a:srgbClr val="595959"/>
                </a:solidFill>
              </a:defRPr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Одна карточка продукта, раннее подключение функций, параллельное выполнение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457200" cy="45720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F2D3D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097280"/>
            <a:ext cx="1261872" cy="6858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1F2D3D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Идея + приоритет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188720"/>
            <a:ext cx="457200" cy="45720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F2D3D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52928" y="1097280"/>
            <a:ext cx="1261872" cy="6858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1F2D3D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Рецептура + спецификация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188720"/>
            <a:ext cx="457200" cy="45720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F2D3D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73168" y="1097280"/>
            <a:ext cx="1261872" cy="6858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1F2D3D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Критерии готовности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188720"/>
            <a:ext cx="457200" cy="45720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F2D3D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93408" y="1097280"/>
            <a:ext cx="1261872" cy="6858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1F2D3D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Параллельная подготовка</a:t>
            </a:r>
            <a:b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функций +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188720"/>
            <a:ext cx="457200" cy="45720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F2D3D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3648" y="1097280"/>
            <a:ext cx="1261872" cy="6858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1F2D3D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Интеграции + тест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1188720"/>
            <a:ext cx="457200" cy="45720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F2D3D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33888" y="1097280"/>
            <a:ext cx="1261872" cy="6858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1F2D3D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Готово → запуск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423160"/>
            <a:ext cx="1078992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1500">
                <a:solidFill>
                  <a:srgbClr val="141414"/>
                </a:solidFill>
              </a:defRPr>
            </a:pP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Закупки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логистика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склад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производство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и HR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стартуют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после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готовности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базовой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спецификации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1500">
                <a:solidFill>
                  <a:srgbClr val="141414"/>
                </a:solidFill>
              </a:defRPr>
            </a:pP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Цен</a:t>
            </a:r>
            <a:r>
              <a:rPr lang="ru-RU" sz="1500" dirty="0" err="1">
                <a:solidFill>
                  <a:srgbClr val="141414"/>
                </a:solidFill>
                <a:latin typeface="Calibri"/>
              </a:rPr>
              <a:t>ообразование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CX и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маркетинг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работают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параллельно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операционной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подготовке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1500">
                <a:solidFill>
                  <a:srgbClr val="141414"/>
                </a:solidFill>
              </a:defRPr>
            </a:pP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IT-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анализ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начинается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рано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;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разработка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не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ждёт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полного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завершения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всех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функций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1500">
                <a:solidFill>
                  <a:srgbClr val="141414"/>
                </a:solidFill>
              </a:defRPr>
            </a:pP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Запуск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блокируется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только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критическими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незакрытыми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дефектами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или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обязательными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условиями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09647" y="5852160"/>
            <a:ext cx="7772400" cy="594360"/>
          </a:xfrm>
          <a:prstGeom prst="roundRect">
            <a:avLst/>
          </a:prstGeom>
          <a:solidFill>
            <a:srgbClr val="E2EFDA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1F2D3D"/>
                </a:solidFill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Definition of Ready — контрольная точка перед входом в основной поток.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599105" y="6647688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FFFFFF"/>
                </a:solidFill>
              </a:defRPr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7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78097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Команда</a:t>
            </a:r>
            <a:r>
              <a:rPr dirty="0"/>
              <a:t> </a:t>
            </a:r>
            <a:r>
              <a:rPr dirty="0" err="1"/>
              <a:t>проекта</a:t>
            </a:r>
            <a:r>
              <a:rPr dirty="0"/>
              <a:t> и </a:t>
            </a:r>
            <a:r>
              <a:rPr dirty="0" err="1"/>
              <a:t>роли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741628"/>
              </p:ext>
            </p:extLst>
          </p:nvPr>
        </p:nvGraphicFramePr>
        <p:xfrm>
          <a:off x="365760" y="1051560"/>
          <a:ext cx="10698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9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Роль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Ответственность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Загрузка на проект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Бизнес-заказчик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Решения, ресурсы, снятие межфункциональных блокеров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10–15%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Руководитель проекта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Lead </a:t>
                      </a:r>
                      <a:r>
                        <a:rPr lang="en-US" dirty="0"/>
                        <a:t>T</a:t>
                      </a:r>
                      <a:r>
                        <a:rPr dirty="0"/>
                        <a:t>ime, WIP, </a:t>
                      </a:r>
                      <a:r>
                        <a:rPr dirty="0" err="1"/>
                        <a:t>приоритеты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эскалации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50–70%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Технолог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Рецептура, ТТК, технологические требования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30–50%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 err="1"/>
                        <a:t>Шеф-повар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Концепция и финальное качество блюда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20–30%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BA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Единые бизнес-требования и критерии готовности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30–50%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IT </a:t>
                      </a:r>
                      <a:r>
                        <a:rPr lang="en-US" dirty="0"/>
                        <a:t>L</a:t>
                      </a:r>
                      <a:r>
                        <a:rPr dirty="0"/>
                        <a:t>ead / </a:t>
                      </a:r>
                      <a:r>
                        <a:rPr lang="en-US" dirty="0"/>
                        <a:t>IT Team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IT-декомпозиция, зависимости, интеграции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30–50%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 err="1"/>
                        <a:t>Представители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функций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Закупки, логистика, HR, цены, склад, производство, CX, маркетинг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10–30%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QA / BI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Тестирование, данные и контроль аналитики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10–30%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644825" y="6647688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lang="en-US" dirty="0"/>
              <a:t>8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758688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Диаграмма</a:t>
            </a:r>
            <a:r>
              <a:rPr dirty="0"/>
              <a:t> </a:t>
            </a:r>
            <a:r>
              <a:rPr dirty="0" err="1"/>
              <a:t>Ганта</a:t>
            </a:r>
            <a:r>
              <a:rPr dirty="0"/>
              <a:t>: </a:t>
            </a:r>
            <a:r>
              <a:rPr dirty="0" err="1"/>
              <a:t>целевой</a:t>
            </a:r>
            <a:r>
              <a:rPr dirty="0"/>
              <a:t> </a:t>
            </a:r>
            <a:r>
              <a:rPr dirty="0" err="1"/>
              <a:t>срок</a:t>
            </a:r>
            <a:r>
              <a:rPr dirty="0"/>
              <a:t> 15 </a:t>
            </a:r>
            <a:r>
              <a:rPr dirty="0" err="1"/>
              <a:t>рабочих</a:t>
            </a:r>
            <a:r>
              <a:rPr dirty="0"/>
              <a:t> </a:t>
            </a:r>
            <a:r>
              <a:rPr dirty="0" err="1"/>
              <a:t>дней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840480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279392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279392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18304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8304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57216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7216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96128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6128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35040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73952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73952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12864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2864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51775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51775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90688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90688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0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68512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2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07424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13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07424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46336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46336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985248" y="896112"/>
            <a:ext cx="438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85248" y="1188720"/>
            <a:ext cx="9144" cy="4846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1480" y="1234440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1414"/>
                </a:solidFill>
              </a:defRPr>
            </a:pPr>
            <a:r>
              <a:t>Подготовка карточки и рецептуры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0480" y="1252728"/>
            <a:ext cx="1280160" cy="29260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1480" y="1655064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1414"/>
                </a:solidFill>
              </a:defRPr>
            </a:pPr>
            <a:r>
              <a:t>Уточнение требований / критерии готовности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79392" y="1673352"/>
            <a:ext cx="1280160" cy="29260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80" y="207568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1414"/>
                </a:solidFill>
              </a:defRPr>
            </a:pPr>
            <a:r>
              <a:t>Закупки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57216" y="2093976"/>
            <a:ext cx="2157984" cy="29260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2496312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1414"/>
                </a:solidFill>
              </a:defRPr>
            </a:pPr>
            <a:r>
              <a:t>Логистика / склад / производство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57216" y="2496312"/>
            <a:ext cx="3072384" cy="310896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1480" y="2916936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1414"/>
                </a:solidFill>
              </a:defRPr>
            </a:pPr>
            <a:r>
              <a:t>HR / обучение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35040" y="2907792"/>
            <a:ext cx="2157984" cy="3200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1480" y="3337560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1414"/>
                </a:solidFill>
              </a:defRPr>
            </a:pPr>
            <a:r>
              <a:t>Ценообразование / маркетинг / CX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596128" y="3355848"/>
            <a:ext cx="2596896" cy="3200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1480" y="3758184"/>
            <a:ext cx="292099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1414"/>
                </a:solidFill>
              </a:defRPr>
            </a:pPr>
            <a:r>
              <a:rPr lang="ru-RU" dirty="0"/>
              <a:t>Проверка IT-данных и автоматических маршрутов</a:t>
            </a:r>
            <a:endParaRPr dirty="0"/>
          </a:p>
        </p:txBody>
      </p:sp>
      <p:sp>
        <p:nvSpPr>
          <p:cNvPr id="46" name="Rounded Rectangle 45"/>
          <p:cNvSpPr/>
          <p:nvPr/>
        </p:nvSpPr>
        <p:spPr>
          <a:xfrm>
            <a:off x="5157216" y="3758184"/>
            <a:ext cx="2157984" cy="310896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5196" y="4187952"/>
            <a:ext cx="173477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1414"/>
                </a:solidFill>
              </a:defRPr>
            </a:pPr>
            <a:r>
              <a:rPr lang="ru-RU" dirty="0"/>
              <a:t>Тестирование</a:t>
            </a:r>
            <a:r>
              <a:rPr dirty="0"/>
              <a:t> / BI / </a:t>
            </a:r>
            <a:r>
              <a:rPr lang="ru-RU" dirty="0"/>
              <a:t>приемка</a:t>
            </a:r>
            <a:endParaRPr dirty="0"/>
          </a:p>
        </p:txBody>
      </p:sp>
      <p:sp>
        <p:nvSpPr>
          <p:cNvPr id="50" name="Rounded Rectangle 49"/>
          <p:cNvSpPr/>
          <p:nvPr/>
        </p:nvSpPr>
        <p:spPr>
          <a:xfrm>
            <a:off x="8229600" y="4151514"/>
            <a:ext cx="1719072" cy="33832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1480" y="4631436"/>
            <a:ext cx="131478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1414"/>
                </a:solidFill>
              </a:defRPr>
            </a:pPr>
            <a:r>
              <a:rPr lang="ru-RU" dirty="0"/>
              <a:t>Готовность к запуску</a:t>
            </a:r>
            <a:endParaRPr dirty="0"/>
          </a:p>
        </p:txBody>
      </p:sp>
      <p:sp>
        <p:nvSpPr>
          <p:cNvPr id="52" name="Rounded Rectangle 51"/>
          <p:cNvSpPr/>
          <p:nvPr/>
        </p:nvSpPr>
        <p:spPr>
          <a:xfrm>
            <a:off x="9546336" y="4663440"/>
            <a:ext cx="402336" cy="29260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25196" y="5020056"/>
            <a:ext cx="54534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1414"/>
                </a:solidFill>
              </a:defRPr>
            </a:pPr>
            <a:r>
              <a:rPr lang="ru-RU" dirty="0"/>
              <a:t>Запуск</a:t>
            </a:r>
            <a:endParaRPr dirty="0"/>
          </a:p>
        </p:txBody>
      </p:sp>
      <p:sp>
        <p:nvSpPr>
          <p:cNvPr id="54" name="Rounded Rectangle 53"/>
          <p:cNvSpPr/>
          <p:nvPr/>
        </p:nvSpPr>
        <p:spPr>
          <a:xfrm>
            <a:off x="9994392" y="5116985"/>
            <a:ext cx="402336" cy="29260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10149840" y="5897880"/>
            <a:ext cx="1280160" cy="438912"/>
          </a:xfrm>
          <a:prstGeom prst="roundRect">
            <a:avLst/>
          </a:prstGeom>
          <a:solidFill>
            <a:srgbClr val="E2EFDA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t>15 дней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4360" y="580644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41414"/>
                </a:solidFill>
              </a:defRPr>
            </a:pPr>
            <a:r>
              <a:t>Оценка построена на экспертной оценке длительности этапов + зависимостях + WIP-ограничениях.</a:t>
            </a:r>
          </a:p>
          <a:p>
            <a:pPr>
              <a:spcAft>
                <a:spcPts val="700"/>
              </a:spcAft>
              <a:defRPr sz="1100">
                <a:solidFill>
                  <a:srgbClr val="141414"/>
                </a:solidFill>
              </a:defRPr>
            </a:pPr>
            <a:r>
              <a:t>Целевой диапазон: 14–20 дней; 15 дней — плановая базовая оценка.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1644825" y="6647688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478791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Риски</a:t>
            </a:r>
            <a:r>
              <a:rPr dirty="0"/>
              <a:t> </a:t>
            </a:r>
            <a:r>
              <a:rPr dirty="0" err="1"/>
              <a:t>проекта</a:t>
            </a:r>
            <a:r>
              <a:rPr dirty="0"/>
              <a:t>: </a:t>
            </a:r>
            <a:r>
              <a:rPr dirty="0" err="1"/>
              <a:t>реестр</a:t>
            </a:r>
            <a:r>
              <a:rPr dirty="0"/>
              <a:t> и </a:t>
            </a:r>
            <a:r>
              <a:rPr dirty="0" err="1"/>
              <a:t>оценка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051560"/>
          <a:ext cx="1152144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Риск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Вероятность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Влияние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Уровень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Ответ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Сопротивление новым правилам/системе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Средняя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Высокое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Высокий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Снижение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Перегруз ключевых специалистов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Высокая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Высокое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Критический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Снижение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IT-зависимости / интеграции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Средняя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Высокое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Высокий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Снижение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Неготовность поставщика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Средняя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Среднее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Средний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Снижение/резерв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Изменение требований после старта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Средняя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Высокое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Высокий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Контроль изменений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Недостаточное тестирование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Низкая/средняя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Высокое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Высокий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Снижение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Срыв обучения/операционной готовности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Средняя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Среднее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Средний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Снижение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Ошибки цены/фудкоста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Низкая/средняя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Высокое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Высокий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Двойная проверка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87117" y="6647688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lang="en-US" dirty="0"/>
              <a:t>10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4041556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управления</a:t>
            </a:r>
            <a:r>
              <a:rPr dirty="0"/>
              <a:t> </a:t>
            </a:r>
            <a:r>
              <a:rPr dirty="0" err="1"/>
              <a:t>рисками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472290"/>
              </p:ext>
            </p:extLst>
          </p:nvPr>
        </p:nvGraphicFramePr>
        <p:xfrm>
          <a:off x="320040" y="960120"/>
          <a:ext cx="1152144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92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Риск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Превентивное действие / триггер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План при наступлении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Сопротивление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 err="1"/>
                        <a:t>Пилот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на</a:t>
                      </a:r>
                      <a:r>
                        <a:rPr dirty="0"/>
                        <a:t> 1 </a:t>
                      </a:r>
                      <a:r>
                        <a:rPr dirty="0" err="1"/>
                        <a:t>продукте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обучение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назначение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владельцев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обратная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связь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 err="1"/>
                        <a:t>Эскалация</a:t>
                      </a:r>
                      <a:r>
                        <a:rPr lang="ru-RU" dirty="0"/>
                        <a:t> на</a:t>
                      </a:r>
                      <a:r>
                        <a:rPr dirty="0"/>
                        <a:t> </a:t>
                      </a:r>
                      <a:r>
                        <a:rPr lang="ru-RU" dirty="0"/>
                        <a:t>бизнес-заказчика</a:t>
                      </a:r>
                      <a:r>
                        <a:rPr dirty="0"/>
                        <a:t> + </a:t>
                      </a:r>
                      <a:r>
                        <a:rPr dirty="0" err="1"/>
                        <a:t>дополнительная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сессия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обучения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Перегруз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WIP 1–2 </a:t>
                      </a:r>
                      <a:r>
                        <a:rPr dirty="0" err="1"/>
                        <a:t>на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человека</a:t>
                      </a:r>
                      <a:r>
                        <a:rPr dirty="0"/>
                        <a:t>, WIP </a:t>
                      </a:r>
                      <a:r>
                        <a:rPr dirty="0" err="1"/>
                        <a:t>по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колонкам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приоритеты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резерв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ключевых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ролей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 err="1"/>
                        <a:t>Остановить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вход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новых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задач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перераспределить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ресурс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IT-зависимости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 err="1"/>
                        <a:t>Единый</a:t>
                      </a:r>
                      <a:r>
                        <a:rPr dirty="0"/>
                        <a:t> IT-backlog, </a:t>
                      </a:r>
                      <a:r>
                        <a:rPr dirty="0" err="1"/>
                        <a:t>ранний</a:t>
                      </a:r>
                      <a:r>
                        <a:rPr dirty="0"/>
                        <a:t> SA/IT </a:t>
                      </a:r>
                      <a:r>
                        <a:rPr lang="en-US" dirty="0"/>
                        <a:t>L</a:t>
                      </a:r>
                      <a:r>
                        <a:rPr dirty="0"/>
                        <a:t>ead, </a:t>
                      </a:r>
                      <a:r>
                        <a:rPr dirty="0" err="1"/>
                        <a:t>карта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интеграций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буфер</a:t>
                      </a:r>
                      <a:r>
                        <a:rPr dirty="0"/>
                        <a:t> 2 </a:t>
                      </a:r>
                      <a:r>
                        <a:rPr dirty="0" err="1"/>
                        <a:t>дня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Переприоритизация; использование заранее согласованных типовых интеграций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Поставщики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Проверка доступности на старте, 2-й поставщик для критичных позиций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Переключение на резервного поставщика / альтернативный ингредиент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Изменения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Change Request; </a:t>
                      </a:r>
                      <a:r>
                        <a:rPr dirty="0" err="1"/>
                        <a:t>после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фиксации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требований</a:t>
                      </a:r>
                      <a:r>
                        <a:rPr dirty="0"/>
                        <a:t> — </a:t>
                      </a:r>
                      <a:r>
                        <a:rPr dirty="0" err="1"/>
                        <a:t>только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через</a:t>
                      </a:r>
                      <a:r>
                        <a:rPr dirty="0"/>
                        <a:t> </a:t>
                      </a:r>
                      <a:r>
                        <a:rPr lang="ru-RU" dirty="0"/>
                        <a:t>руководителя проекта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Оценка влияния на срок; перенос в следующий релиз при необходимости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Тестирование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Definition of Done, чек-лист интеграций, приемка до запуска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Блокировка запуска до закрытия критических дефектов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Обучение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 err="1"/>
                        <a:t>Материалы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готовы</a:t>
                      </a:r>
                      <a:r>
                        <a:rPr dirty="0"/>
                        <a:t>; </a:t>
                      </a:r>
                      <a:r>
                        <a:rPr dirty="0" err="1"/>
                        <a:t>контроль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прохождения</a:t>
                      </a:r>
                      <a:r>
                        <a:rPr dirty="0"/>
                        <a:t>; </a:t>
                      </a:r>
                      <a:r>
                        <a:rPr dirty="0" err="1"/>
                        <a:t>резервный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тренер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Перенос запуска конкретной точки или усиление обучения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Цена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t>Автоматизированный расчет + двойная проверка до загрузки в ИС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 err="1"/>
                        <a:t>Блокировка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публикации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цены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до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повторной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проверки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87117" y="6647688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lang="en-US" dirty="0"/>
              <a:t>11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504998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План-структура</a:t>
            </a:r>
            <a:r>
              <a:rPr dirty="0"/>
              <a:t> </a:t>
            </a:r>
            <a:r>
              <a:rPr dirty="0" err="1"/>
              <a:t>рисков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411480" y="1234440"/>
            <a:ext cx="2057400" cy="6858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1. Организационные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187451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Сопротивление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Недостаток ресурсов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Конфликт приоритетов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234440"/>
            <a:ext cx="2057400" cy="6858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2. Процессные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2148840"/>
            <a:ext cx="187451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Нарушение WIP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Зависание согласований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Нечеткие критерии готовности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74920" y="1234440"/>
            <a:ext cx="2057400" cy="6858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3. Технологические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148840"/>
            <a:ext cx="187451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Интеграции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Дефекты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Данные / BI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Нагрузка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234440"/>
            <a:ext cx="2057400" cy="6858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4. Внешние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48840"/>
            <a:ext cx="187451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Поставщики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Сроки доставки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Изменение стоимости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38359" y="1234440"/>
            <a:ext cx="2057400" cy="6858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F2D3D"/>
                </a:solidFill>
              </a:defRPr>
            </a:pPr>
            <a:r>
              <a:t>5. Операционные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19" y="2148840"/>
            <a:ext cx="187451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Обучение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Оборудование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Готовность ресторанов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38" y="5922987"/>
            <a:ext cx="9692640" cy="594360"/>
          </a:xfrm>
          <a:prstGeom prst="roundRect">
            <a:avLst/>
          </a:prstGeom>
          <a:solidFill>
            <a:srgbClr val="FCE4D6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rPr dirty="0" err="1"/>
              <a:t>Регулярн</a:t>
            </a:r>
            <a:r>
              <a:rPr lang="ru-RU" dirty="0" err="1"/>
              <a:t>ая</a:t>
            </a:r>
            <a:r>
              <a:rPr lang="ru-RU" dirty="0"/>
              <a:t> встреча по анализу рисков</a:t>
            </a:r>
            <a:r>
              <a:rPr dirty="0"/>
              <a:t>: 2 </a:t>
            </a:r>
            <a:r>
              <a:rPr dirty="0" err="1"/>
              <a:t>раза</a:t>
            </a:r>
            <a:r>
              <a:rPr dirty="0"/>
              <a:t> в </a:t>
            </a:r>
            <a:r>
              <a:rPr dirty="0" err="1"/>
              <a:t>неделю</a:t>
            </a:r>
            <a:r>
              <a:rPr dirty="0"/>
              <a:t>; </a:t>
            </a:r>
            <a:r>
              <a:rPr dirty="0" err="1"/>
              <a:t>критические</a:t>
            </a:r>
            <a:r>
              <a:rPr dirty="0"/>
              <a:t> </a:t>
            </a:r>
            <a:r>
              <a:rPr dirty="0" err="1"/>
              <a:t>риски</a:t>
            </a:r>
            <a:r>
              <a:rPr dirty="0"/>
              <a:t> — </a:t>
            </a:r>
            <a:r>
              <a:rPr lang="ru-RU" dirty="0"/>
              <a:t>руководителю проекта</a:t>
            </a:r>
            <a:r>
              <a:rPr dirty="0"/>
              <a:t> и</a:t>
            </a:r>
            <a:r>
              <a:rPr lang="ru-RU" dirty="0"/>
              <a:t> бизнес-заказчику</a:t>
            </a:r>
            <a:r>
              <a:rPr dirty="0"/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587117" y="6647688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dirty="0"/>
              <a:t>1</a:t>
            </a:r>
            <a:r>
              <a:rPr lang="en-US" dirty="0"/>
              <a:t>2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6473952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Управление</a:t>
            </a:r>
            <a:r>
              <a:rPr dirty="0"/>
              <a:t> </a:t>
            </a:r>
            <a:r>
              <a:rPr dirty="0" err="1"/>
              <a:t>изменениями</a:t>
            </a:r>
            <a:r>
              <a:rPr dirty="0"/>
              <a:t> и </a:t>
            </a:r>
            <a:r>
              <a:rPr dirty="0" err="1"/>
              <a:t>приоритетами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698480" cy="2110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dirty="0" err="1"/>
              <a:t>До</a:t>
            </a:r>
            <a:r>
              <a:rPr dirty="0"/>
              <a:t> </a:t>
            </a:r>
            <a:r>
              <a:rPr dirty="0" err="1"/>
              <a:t>старта</a:t>
            </a:r>
            <a:r>
              <a:rPr dirty="0"/>
              <a:t>: </a:t>
            </a:r>
            <a:r>
              <a:rPr dirty="0" err="1"/>
              <a:t>фиксируем</a:t>
            </a:r>
            <a:r>
              <a:rPr dirty="0"/>
              <a:t> scope, Definition of Ready и Definition of Done.</a:t>
            </a:r>
          </a:p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dirty="0" err="1"/>
              <a:t>После</a:t>
            </a:r>
            <a:r>
              <a:rPr dirty="0"/>
              <a:t> </a:t>
            </a:r>
            <a:r>
              <a:rPr dirty="0" err="1"/>
              <a:t>старта</a:t>
            </a:r>
            <a:r>
              <a:rPr dirty="0"/>
              <a:t>: </a:t>
            </a:r>
            <a:r>
              <a:rPr dirty="0" err="1"/>
              <a:t>любое</a:t>
            </a:r>
            <a:r>
              <a:rPr dirty="0"/>
              <a:t> </a:t>
            </a:r>
            <a:r>
              <a:rPr dirty="0" err="1"/>
              <a:t>изменение</a:t>
            </a:r>
            <a:r>
              <a:rPr dirty="0"/>
              <a:t> </a:t>
            </a:r>
            <a:r>
              <a:rPr dirty="0" err="1"/>
              <a:t>оформляется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Change Request с </a:t>
            </a:r>
            <a:r>
              <a:rPr dirty="0" err="1"/>
              <a:t>оценкой</a:t>
            </a:r>
            <a:r>
              <a:rPr dirty="0"/>
              <a:t> </a:t>
            </a:r>
            <a:r>
              <a:rPr dirty="0" err="1"/>
              <a:t>влияния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срок</a:t>
            </a:r>
            <a:r>
              <a:rPr dirty="0"/>
              <a:t>, </a:t>
            </a:r>
            <a:r>
              <a:rPr dirty="0" err="1"/>
              <a:t>стоимость</a:t>
            </a:r>
            <a:r>
              <a:rPr dirty="0"/>
              <a:t> и </a:t>
            </a:r>
            <a:r>
              <a:rPr dirty="0" err="1"/>
              <a:t>риски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dirty="0" err="1"/>
              <a:t>Критические</a:t>
            </a:r>
            <a:r>
              <a:rPr dirty="0"/>
              <a:t> </a:t>
            </a:r>
            <a:r>
              <a:rPr dirty="0" err="1"/>
              <a:t>изменения</a:t>
            </a:r>
            <a:r>
              <a:rPr dirty="0"/>
              <a:t>, </a:t>
            </a:r>
            <a:r>
              <a:rPr dirty="0" err="1"/>
              <a:t>влияющие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запуск</a:t>
            </a:r>
            <a:r>
              <a:rPr dirty="0"/>
              <a:t>/</a:t>
            </a:r>
            <a:r>
              <a:rPr dirty="0" err="1"/>
              <a:t>безопасность</a:t>
            </a:r>
            <a:r>
              <a:rPr dirty="0"/>
              <a:t>/</a:t>
            </a:r>
            <a:r>
              <a:rPr dirty="0" err="1"/>
              <a:t>законодательные</a:t>
            </a:r>
            <a:r>
              <a:rPr dirty="0"/>
              <a:t> </a:t>
            </a:r>
            <a:r>
              <a:rPr dirty="0" err="1"/>
              <a:t>требования</a:t>
            </a:r>
            <a:r>
              <a:rPr dirty="0"/>
              <a:t> — </a:t>
            </a:r>
            <a:r>
              <a:rPr dirty="0" err="1"/>
              <a:t>приоритет</a:t>
            </a:r>
            <a:r>
              <a:rPr dirty="0"/>
              <a:t> P0.</a:t>
            </a:r>
          </a:p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dirty="0" err="1"/>
              <a:t>Остальные</a:t>
            </a:r>
            <a:r>
              <a:rPr dirty="0"/>
              <a:t> </a:t>
            </a:r>
            <a:r>
              <a:rPr dirty="0" err="1"/>
              <a:t>изменения</a:t>
            </a:r>
            <a:r>
              <a:rPr dirty="0"/>
              <a:t> — P1/P2 и, </a:t>
            </a: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они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критичны</a:t>
            </a:r>
            <a:r>
              <a:rPr dirty="0"/>
              <a:t>, </a:t>
            </a:r>
            <a:r>
              <a:rPr dirty="0" err="1"/>
              <a:t>переносятся</a:t>
            </a:r>
            <a:r>
              <a:rPr dirty="0"/>
              <a:t> в </a:t>
            </a:r>
            <a:r>
              <a:rPr dirty="0" err="1"/>
              <a:t>следующий</a:t>
            </a:r>
            <a:r>
              <a:rPr dirty="0"/>
              <a:t> </a:t>
            </a:r>
            <a:r>
              <a:rPr dirty="0" err="1"/>
              <a:t>поток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dirty="0" err="1"/>
              <a:t>Правило</a:t>
            </a:r>
            <a:r>
              <a:rPr dirty="0"/>
              <a:t>: </a:t>
            </a:r>
            <a:r>
              <a:rPr dirty="0" err="1"/>
              <a:t>чтобы</a:t>
            </a:r>
            <a:r>
              <a:rPr dirty="0"/>
              <a:t> </a:t>
            </a:r>
            <a:r>
              <a:rPr dirty="0" err="1"/>
              <a:t>добавить</a:t>
            </a:r>
            <a:r>
              <a:rPr dirty="0"/>
              <a:t> </a:t>
            </a:r>
            <a:r>
              <a:rPr dirty="0" err="1"/>
              <a:t>новую</a:t>
            </a:r>
            <a:r>
              <a:rPr dirty="0"/>
              <a:t> </a:t>
            </a:r>
            <a:r>
              <a:rPr dirty="0" err="1"/>
              <a:t>работу</a:t>
            </a:r>
            <a:r>
              <a:rPr dirty="0"/>
              <a:t>, </a:t>
            </a:r>
            <a:r>
              <a:rPr dirty="0" err="1"/>
              <a:t>необходимо</a:t>
            </a:r>
            <a:r>
              <a:rPr dirty="0"/>
              <a:t> </a:t>
            </a:r>
            <a:r>
              <a:rPr dirty="0" err="1"/>
              <a:t>освободить</a:t>
            </a:r>
            <a:r>
              <a:rPr dirty="0"/>
              <a:t> WIP-</a:t>
            </a:r>
            <a:r>
              <a:rPr dirty="0" err="1"/>
              <a:t>слот</a:t>
            </a:r>
            <a:r>
              <a:rPr dirty="0"/>
              <a:t> — </a:t>
            </a:r>
            <a:r>
              <a:rPr dirty="0" err="1"/>
              <a:t>это</a:t>
            </a:r>
            <a:r>
              <a:rPr dirty="0"/>
              <a:t> </a:t>
            </a:r>
            <a:r>
              <a:rPr dirty="0" err="1"/>
              <a:t>защищает</a:t>
            </a:r>
            <a:r>
              <a:rPr dirty="0"/>
              <a:t> </a:t>
            </a:r>
            <a:r>
              <a:rPr dirty="0" err="1"/>
              <a:t>срок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конфликте</a:t>
            </a:r>
            <a:r>
              <a:rPr dirty="0"/>
              <a:t> </a:t>
            </a:r>
            <a:r>
              <a:rPr dirty="0" err="1"/>
              <a:t>приоритетов</a:t>
            </a:r>
            <a:r>
              <a:rPr dirty="0"/>
              <a:t> </a:t>
            </a:r>
            <a:r>
              <a:rPr dirty="0" err="1"/>
              <a:t>решение</a:t>
            </a:r>
            <a:r>
              <a:rPr dirty="0"/>
              <a:t> </a:t>
            </a:r>
            <a:r>
              <a:rPr dirty="0" err="1"/>
              <a:t>принимает</a:t>
            </a:r>
            <a:r>
              <a:rPr dirty="0"/>
              <a:t> </a:t>
            </a:r>
            <a:r>
              <a:rPr lang="ru-RU" dirty="0"/>
              <a:t>руководитель проекта</a:t>
            </a:r>
            <a:r>
              <a:rPr dirty="0"/>
              <a:t> </a:t>
            </a:r>
            <a:r>
              <a:rPr dirty="0" err="1"/>
              <a:t>совместно</a:t>
            </a:r>
            <a:r>
              <a:rPr dirty="0"/>
              <a:t> с</a:t>
            </a:r>
            <a:r>
              <a:rPr lang="ru-RU" dirty="0"/>
              <a:t> бизнес-заказчиком</a:t>
            </a:r>
            <a:r>
              <a:rPr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989320"/>
            <a:ext cx="9509760" cy="548640"/>
          </a:xfrm>
          <a:prstGeom prst="roundRect">
            <a:avLst/>
          </a:prstGeom>
          <a:solidFill>
            <a:srgbClr val="E2EFDA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F2D3D"/>
                </a:solidFill>
              </a:defRPr>
            </a:pPr>
            <a:r>
              <a:t>Цель: не запрещать изменения, а делать их стоимость и влияние прозрачными.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87117" y="6647688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dirty="0"/>
              <a:t>1</a:t>
            </a:r>
            <a:r>
              <a:rPr lang="en-US" dirty="0"/>
              <a:t>3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528843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Прозрачность</a:t>
            </a:r>
            <a:r>
              <a:rPr dirty="0"/>
              <a:t> и </a:t>
            </a:r>
            <a:r>
              <a:rPr dirty="0" err="1"/>
              <a:t>контроль</a:t>
            </a:r>
            <a:r>
              <a:rPr dirty="0"/>
              <a:t> </a:t>
            </a:r>
            <a:r>
              <a:rPr dirty="0" err="1"/>
              <a:t>проекта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411480" y="1234440"/>
            <a:ext cx="1234440" cy="59436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rPr dirty="0"/>
              <a:t>Lead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216152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Идея → запуск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Цель ≤ 20 дней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234440"/>
            <a:ext cx="1234440" cy="59436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t>Cycle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216152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Время активной работы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Снижение по этапам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234440"/>
            <a:ext cx="1234440" cy="59436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t>Blocked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1216152"/>
            <a:ext cx="2240280" cy="551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rPr dirty="0" err="1"/>
              <a:t>Время</a:t>
            </a:r>
            <a:r>
              <a:rPr dirty="0"/>
              <a:t> в </a:t>
            </a:r>
            <a:r>
              <a:rPr dirty="0" err="1"/>
              <a:t>блокировке</a:t>
            </a:r>
            <a:endParaRPr dirty="0"/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rPr dirty="0"/>
              <a:t>&lt; 10% </a:t>
            </a:r>
            <a:r>
              <a:rPr lang="en-US" dirty="0"/>
              <a:t>L</a:t>
            </a:r>
            <a:r>
              <a:rPr dirty="0"/>
              <a:t>ead </a:t>
            </a:r>
            <a:r>
              <a:rPr lang="en-US" dirty="0"/>
              <a:t>T</a:t>
            </a:r>
            <a:r>
              <a:rPr dirty="0"/>
              <a:t>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108960"/>
            <a:ext cx="1234440" cy="59436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rPr dirty="0"/>
              <a:t>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090672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Продуктов за период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Рост без роста WIP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108960"/>
            <a:ext cx="1234440" cy="59436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t>WIP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3090672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Продуктов в работе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≤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3108960"/>
            <a:ext cx="1234440" cy="59436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2D3D"/>
                </a:solidFill>
              </a:defRPr>
            </a:pPr>
            <a:r>
              <a:t>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90672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Срок этапа</a:t>
            </a:r>
          </a:p>
          <a:p>
            <a:pPr>
              <a:spcAft>
                <a:spcPts val="700"/>
              </a:spcAft>
              <a:defRPr sz="1200">
                <a:solidFill>
                  <a:srgbClr val="141414"/>
                </a:solidFill>
              </a:defRPr>
            </a:pPr>
            <a:r>
              <a:t>≥ 90% соблюдение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74920"/>
            <a:ext cx="10698480" cy="1161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41414"/>
                </a:solidFill>
              </a:defRPr>
            </a:pPr>
            <a:r>
              <a:rPr dirty="0" err="1"/>
              <a:t>Ежедневно</a:t>
            </a:r>
            <a:r>
              <a:rPr dirty="0"/>
              <a:t>: </a:t>
            </a:r>
            <a:r>
              <a:rPr dirty="0" err="1"/>
              <a:t>автоматический</a:t>
            </a:r>
            <a:r>
              <a:rPr dirty="0"/>
              <a:t> </a:t>
            </a:r>
            <a:r>
              <a:rPr dirty="0" err="1"/>
              <a:t>статус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доске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команды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300">
                <a:solidFill>
                  <a:srgbClr val="141414"/>
                </a:solidFill>
              </a:defRPr>
            </a:pPr>
            <a:r>
              <a:rPr dirty="0"/>
              <a:t>2 </a:t>
            </a:r>
            <a:r>
              <a:rPr dirty="0" err="1"/>
              <a:t>раза</a:t>
            </a:r>
            <a:r>
              <a:rPr dirty="0"/>
              <a:t> в </a:t>
            </a:r>
            <a:r>
              <a:rPr dirty="0" err="1"/>
              <a:t>неделю</a:t>
            </a:r>
            <a:r>
              <a:rPr dirty="0"/>
              <a:t>:</a:t>
            </a:r>
            <a:r>
              <a:rPr lang="en-US" dirty="0"/>
              <a:t> </a:t>
            </a:r>
            <a:r>
              <a:rPr lang="ru-RU" dirty="0"/>
              <a:t>анализ рисков</a:t>
            </a:r>
            <a:r>
              <a:rPr dirty="0"/>
              <a:t> — </a:t>
            </a:r>
            <a:r>
              <a:rPr dirty="0" err="1"/>
              <a:t>блокеры</a:t>
            </a:r>
            <a:r>
              <a:rPr dirty="0"/>
              <a:t>, WIP, SLA, </a:t>
            </a:r>
            <a:r>
              <a:rPr dirty="0" err="1"/>
              <a:t>риски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300">
                <a:solidFill>
                  <a:srgbClr val="141414"/>
                </a:solidFill>
              </a:defRPr>
            </a:pPr>
            <a:r>
              <a:rPr dirty="0" err="1"/>
              <a:t>Еженедельно</a:t>
            </a:r>
            <a:r>
              <a:rPr dirty="0"/>
              <a:t> </a:t>
            </a:r>
            <a:r>
              <a:rPr lang="ru-RU" dirty="0"/>
              <a:t>бизнес-заказчик</a:t>
            </a:r>
            <a:r>
              <a:rPr dirty="0"/>
              <a:t>: 1-страничный dashboard — </a:t>
            </a:r>
            <a:r>
              <a:rPr dirty="0" err="1"/>
              <a:t>срок</a:t>
            </a:r>
            <a:r>
              <a:rPr dirty="0"/>
              <a:t>, </a:t>
            </a:r>
            <a:r>
              <a:rPr dirty="0" err="1"/>
              <a:t>риски</a:t>
            </a:r>
            <a:r>
              <a:rPr dirty="0"/>
              <a:t>, </a:t>
            </a:r>
            <a:r>
              <a:rPr dirty="0" err="1"/>
              <a:t>решения</a:t>
            </a:r>
            <a:r>
              <a:rPr dirty="0"/>
              <a:t>, </a:t>
            </a:r>
            <a:r>
              <a:rPr dirty="0" err="1"/>
              <a:t>экономика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300">
                <a:solidFill>
                  <a:srgbClr val="141414"/>
                </a:solidFill>
              </a:defRPr>
            </a:pPr>
            <a:r>
              <a:rPr dirty="0" err="1"/>
              <a:t>Эскалация</a:t>
            </a:r>
            <a:r>
              <a:rPr dirty="0"/>
              <a:t>: </a:t>
            </a:r>
            <a:r>
              <a:rPr dirty="0" err="1"/>
              <a:t>критический</a:t>
            </a:r>
            <a:r>
              <a:rPr dirty="0"/>
              <a:t> </a:t>
            </a:r>
            <a:r>
              <a:rPr dirty="0" err="1"/>
              <a:t>блокер</a:t>
            </a:r>
            <a:r>
              <a:rPr dirty="0"/>
              <a:t> &gt; 1 </a:t>
            </a:r>
            <a:r>
              <a:rPr dirty="0" err="1"/>
              <a:t>рабочего</a:t>
            </a:r>
            <a:r>
              <a:rPr dirty="0"/>
              <a:t> </a:t>
            </a:r>
            <a:r>
              <a:rPr dirty="0" err="1"/>
              <a:t>дня</a:t>
            </a:r>
            <a:r>
              <a:rPr dirty="0"/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587117" y="6647688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dirty="0"/>
              <a:t>1</a:t>
            </a:r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4722703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Ресурсы</a:t>
            </a:r>
            <a:r>
              <a:rPr dirty="0"/>
              <a:t> и </a:t>
            </a:r>
            <a:r>
              <a:rPr dirty="0" err="1"/>
              <a:t>экономика</a:t>
            </a:r>
            <a:r>
              <a:rPr dirty="0"/>
              <a:t> </a:t>
            </a:r>
            <a:r>
              <a:rPr dirty="0" err="1"/>
              <a:t>проекта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rPr dirty="0" err="1"/>
              <a:t>Команда</a:t>
            </a:r>
            <a:r>
              <a:rPr dirty="0"/>
              <a:t>: </a:t>
            </a:r>
            <a:r>
              <a:rPr lang="ru-RU" dirty="0"/>
              <a:t>Бизнес-заказчик, Руководитель проекта, IT </a:t>
            </a:r>
            <a:r>
              <a:rPr lang="ru-RU" dirty="0" err="1"/>
              <a:t>Lead</a:t>
            </a:r>
            <a:r>
              <a:rPr lang="ru-RU" dirty="0"/>
              <a:t>, Архитектор системы, Системный аналитик, </a:t>
            </a:r>
            <a:r>
              <a:rPr lang="ru-RU" dirty="0" err="1"/>
              <a:t>Backend</a:t>
            </a:r>
            <a:r>
              <a:rPr lang="ru-RU" dirty="0"/>
              <a:t>-разработчик, </a:t>
            </a:r>
            <a:r>
              <a:rPr lang="ru-RU" dirty="0" err="1"/>
              <a:t>Frontend</a:t>
            </a:r>
            <a:r>
              <a:rPr lang="ru-RU" dirty="0"/>
              <a:t>-разработчик, </a:t>
            </a:r>
            <a:r>
              <a:rPr lang="ru-RU" dirty="0" err="1"/>
              <a:t>DevOps</a:t>
            </a:r>
            <a:r>
              <a:rPr lang="ru-RU" dirty="0"/>
              <a:t>-инженер, Представитель отдела по информационной безопасности, Инженер по тестированию, Представитель службы эксплуатации, Представитель пользователей.</a:t>
            </a:r>
          </a:p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rPr dirty="0" err="1"/>
              <a:t>Инфраструктура</a:t>
            </a:r>
            <a:r>
              <a:rPr dirty="0"/>
              <a:t>: </a:t>
            </a:r>
            <a:r>
              <a:rPr dirty="0" err="1"/>
              <a:t>единая</a:t>
            </a:r>
            <a:r>
              <a:rPr dirty="0"/>
              <a:t> Kanban-</a:t>
            </a:r>
            <a:r>
              <a:rPr dirty="0" err="1"/>
              <a:t>система</a:t>
            </a:r>
            <a:r>
              <a:rPr dirty="0"/>
              <a:t>, </a:t>
            </a:r>
            <a:r>
              <a:rPr dirty="0" err="1"/>
              <a:t>шаблоны</a:t>
            </a:r>
            <a:r>
              <a:rPr dirty="0"/>
              <a:t>, </a:t>
            </a:r>
            <a:r>
              <a:rPr dirty="0" err="1"/>
              <a:t>автоматические</a:t>
            </a:r>
            <a:r>
              <a:rPr dirty="0"/>
              <a:t> </a:t>
            </a:r>
            <a:r>
              <a:rPr dirty="0" err="1"/>
              <a:t>уведомления</a:t>
            </a:r>
            <a:r>
              <a:rPr dirty="0"/>
              <a:t> и dashboard.</a:t>
            </a:r>
          </a:p>
          <a:p>
            <a:pPr>
              <a:spcAft>
                <a:spcPts val="700"/>
              </a:spcAft>
              <a:defRPr sz="1400">
                <a:solidFill>
                  <a:srgbClr val="141414"/>
                </a:solidFill>
              </a:defRPr>
            </a:pPr>
            <a:r>
              <a:rPr dirty="0" err="1"/>
              <a:t>Бюджет</a:t>
            </a:r>
            <a:r>
              <a:rPr dirty="0"/>
              <a:t> </a:t>
            </a:r>
            <a:r>
              <a:rPr lang="en-US" dirty="0"/>
              <a:t>MVP </a:t>
            </a:r>
            <a:r>
              <a:rPr dirty="0" err="1"/>
              <a:t>пилота</a:t>
            </a:r>
            <a:r>
              <a:rPr dirty="0"/>
              <a:t> — в </a:t>
            </a:r>
            <a:r>
              <a:rPr dirty="0" err="1"/>
              <a:t>основном</a:t>
            </a:r>
            <a:r>
              <a:rPr dirty="0"/>
              <a:t> </a:t>
            </a:r>
            <a:r>
              <a:rPr dirty="0" err="1"/>
              <a:t>внутренний</a:t>
            </a:r>
            <a:r>
              <a:rPr dirty="0"/>
              <a:t>: </a:t>
            </a:r>
            <a:r>
              <a:rPr dirty="0" err="1"/>
              <a:t>настройка</a:t>
            </a:r>
            <a:r>
              <a:rPr dirty="0"/>
              <a:t> </a:t>
            </a:r>
            <a:r>
              <a:rPr dirty="0" err="1"/>
              <a:t>процесса</a:t>
            </a:r>
            <a:r>
              <a:rPr dirty="0"/>
              <a:t> + </a:t>
            </a:r>
            <a:r>
              <a:rPr dirty="0" err="1"/>
              <a:t>минимальная</a:t>
            </a:r>
            <a:r>
              <a:rPr dirty="0"/>
              <a:t> </a:t>
            </a:r>
            <a:r>
              <a:rPr dirty="0" err="1"/>
              <a:t>автоматизация</a:t>
            </a:r>
            <a:r>
              <a:rPr dirty="0"/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574048"/>
              </p:ext>
            </p:extLst>
          </p:nvPr>
        </p:nvGraphicFramePr>
        <p:xfrm>
          <a:off x="502920" y="2788920"/>
          <a:ext cx="109728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Показатель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Допущение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Расчет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Результат</a:t>
                      </a:r>
                    </a:p>
                  </a:txBody>
                  <a:tcPr marL="45720" marR="45720" marT="27432" marB="27432">
                    <a:solidFill>
                      <a:srgbClr val="1F2D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Средняя дополнительная выручка от нового блюда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150 </a:t>
                      </a:r>
                      <a:r>
                        <a:rPr dirty="0" err="1"/>
                        <a:t>заказов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день</a:t>
                      </a:r>
                      <a:r>
                        <a:rPr dirty="0"/>
                        <a:t> × </a:t>
                      </a:r>
                      <a:r>
                        <a:rPr lang="ru-RU" dirty="0"/>
                        <a:t>800 руб.</a:t>
                      </a:r>
                      <a:r>
                        <a:rPr dirty="0"/>
                        <a:t> × 30 </a:t>
                      </a:r>
                      <a:r>
                        <a:rPr dirty="0" err="1"/>
                        <a:t>дней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150×8×30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3 млн. 600 тыс. руб. 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Валовая маржа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3</a:t>
                      </a:r>
                      <a:r>
                        <a:rPr lang="ru-RU" dirty="0"/>
                        <a:t> 600 000</a:t>
                      </a:r>
                      <a:r>
                        <a:rPr dirty="0"/>
                        <a:t>×60%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2 млн. 160 тыс. руб.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 err="1"/>
                        <a:t>Стоимость</a:t>
                      </a:r>
                      <a:r>
                        <a:rPr dirty="0"/>
                        <a:t> </a:t>
                      </a:r>
                      <a:r>
                        <a:rPr lang="en-US" dirty="0"/>
                        <a:t>MVP </a:t>
                      </a:r>
                      <a:r>
                        <a:rPr dirty="0" err="1"/>
                        <a:t>проекта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автоматизации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Единовременно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Оценка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1 млн. 200 тыс. руб.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Операционный эффект от ускорения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t>Доп. 2 недели продаж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dirty="0"/>
                        <a:t>2</a:t>
                      </a:r>
                      <a:r>
                        <a:rPr lang="ru-RU" dirty="0"/>
                        <a:t> </a:t>
                      </a:r>
                      <a:r>
                        <a:rPr dirty="0"/>
                        <a:t>1</a:t>
                      </a:r>
                      <a:r>
                        <a:rPr lang="ru-RU" dirty="0"/>
                        <a:t>6</a:t>
                      </a:r>
                      <a:r>
                        <a:rPr dirty="0"/>
                        <a:t>0</a:t>
                      </a:r>
                      <a:r>
                        <a:rPr lang="ru-RU" dirty="0"/>
                        <a:t> 00</a:t>
                      </a:r>
                      <a:r>
                        <a:rPr dirty="0"/>
                        <a:t>0×14/30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</a:defRPr>
                      </a:pPr>
                      <a:r>
                        <a:rPr lang="ru-RU" dirty="0"/>
                        <a:t>1 млн. 8 тыс. руб.</a:t>
                      </a:r>
                      <a:endParaRPr dirty="0"/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5737860"/>
            <a:ext cx="10241280" cy="777240"/>
          </a:xfrm>
          <a:prstGeom prst="roundRect">
            <a:avLst/>
          </a:prstGeom>
          <a:solidFill>
            <a:srgbClr val="E2EFDA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1F2D3D"/>
                </a:solidFill>
              </a:defRPr>
            </a:pPr>
            <a:r>
              <a:rPr lang="ru-RU" dirty="0"/>
              <a:t>1 млн. 8 тыс. руб. </a:t>
            </a:r>
            <a:r>
              <a:rPr dirty="0" err="1"/>
              <a:t>дополнительно</a:t>
            </a:r>
            <a:r>
              <a:rPr lang="ru-RU" dirty="0"/>
              <a:t>го</a:t>
            </a:r>
            <a:r>
              <a:rPr dirty="0"/>
              <a:t> </a:t>
            </a:r>
            <a:r>
              <a:rPr dirty="0" err="1"/>
              <a:t>маржинально</a:t>
            </a:r>
            <a:r>
              <a:rPr lang="ru-RU" dirty="0"/>
              <a:t>го</a:t>
            </a:r>
            <a:r>
              <a:rPr dirty="0"/>
              <a:t> </a:t>
            </a:r>
            <a:r>
              <a:rPr lang="ru-RU" dirty="0"/>
              <a:t>вклада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2 </a:t>
            </a:r>
            <a:r>
              <a:rPr dirty="0" err="1"/>
              <a:t>недели</a:t>
            </a:r>
            <a:r>
              <a:rPr dirty="0"/>
              <a:t> ≈ 84% </a:t>
            </a:r>
            <a:r>
              <a:rPr dirty="0" err="1"/>
              <a:t>от</a:t>
            </a:r>
            <a:r>
              <a:rPr dirty="0"/>
              <a:t> </a:t>
            </a:r>
            <a:r>
              <a:rPr lang="ru-RU" dirty="0"/>
              <a:t>1 млн. 200 тыс. руб. </a:t>
            </a:r>
            <a:r>
              <a:rPr dirty="0" err="1"/>
              <a:t>стоимости</a:t>
            </a:r>
            <a:r>
              <a:rPr lang="ru-RU" dirty="0"/>
              <a:t> </a:t>
            </a:r>
            <a:r>
              <a:rPr lang="en-US" dirty="0"/>
              <a:t>MVP</a:t>
            </a:r>
            <a:r>
              <a:rPr dirty="0"/>
              <a:t> </a:t>
            </a:r>
            <a:r>
              <a:rPr dirty="0" err="1"/>
              <a:t>проекта</a:t>
            </a:r>
            <a:r>
              <a:rPr dirty="0"/>
              <a:t>. </a:t>
            </a:r>
            <a:r>
              <a:rPr dirty="0" err="1"/>
              <a:t>Окупаемость</a:t>
            </a:r>
            <a:r>
              <a:rPr dirty="0"/>
              <a:t> —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сохранении</a:t>
            </a:r>
            <a:r>
              <a:rPr dirty="0"/>
              <a:t> </a:t>
            </a:r>
            <a:r>
              <a:rPr dirty="0" err="1"/>
              <a:t>продаж</a:t>
            </a:r>
            <a:r>
              <a:rPr dirty="0"/>
              <a:t> — </a:t>
            </a:r>
            <a:r>
              <a:rPr dirty="0" err="1"/>
              <a:t>менее</a:t>
            </a:r>
            <a:r>
              <a:rPr dirty="0"/>
              <a:t> 2 </a:t>
            </a:r>
            <a:r>
              <a:rPr dirty="0" err="1"/>
              <a:t>месяцев</a:t>
            </a:r>
            <a:r>
              <a:rPr dirty="0"/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87117" y="6647688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dirty="0"/>
              <a:t>1</a:t>
            </a:r>
            <a:r>
              <a:rPr lang="en-US" dirty="0"/>
              <a:t>5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37B2B1C-3EEA-418D-9271-17BAC0601FAF}"/>
              </a:ext>
            </a:extLst>
          </p:cNvPr>
          <p:cNvSpPr txBox="1"/>
          <p:nvPr/>
        </p:nvSpPr>
        <p:spPr>
          <a:xfrm>
            <a:off x="502920" y="228600"/>
            <a:ext cx="137704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lang="ru-RU" dirty="0"/>
              <a:t>Выводы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89C75-CEEB-4833-8FC2-2D13374A3EC9}"/>
              </a:ext>
            </a:extLst>
          </p:cNvPr>
          <p:cNvSpPr txBox="1"/>
          <p:nvPr/>
        </p:nvSpPr>
        <p:spPr>
          <a:xfrm>
            <a:off x="502920" y="706795"/>
            <a:ext cx="110642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0" dirty="0">
                <a:effectLst/>
              </a:rPr>
              <a:t>Платформа управления внедрением новых продуктов объединяет пользователей, участвующих в создании и внедрении нового блюда, и существующие корпоративные ИТ-системы.</a:t>
            </a:r>
          </a:p>
          <a:p>
            <a:endParaRPr lang="ru-RU" sz="1600" b="0" dirty="0">
              <a:effectLst/>
            </a:endParaRPr>
          </a:p>
          <a:p>
            <a:r>
              <a:rPr lang="ru-RU" sz="1600" b="0" dirty="0">
                <a:effectLst/>
              </a:rPr>
              <a:t>В результате получена масштабируемая, отказоустойчивая и защищенная система, способная интегрироваться с существующей ИТ-инфраструктурой сети закусочных и поддерживать дальнейшее развитие.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7EF27483-3EC3-4DAC-A554-329AFC620EC8}"/>
              </a:ext>
            </a:extLst>
          </p:cNvPr>
          <p:cNvSpPr/>
          <p:nvPr/>
        </p:nvSpPr>
        <p:spPr>
          <a:xfrm>
            <a:off x="502920" y="2696583"/>
            <a:ext cx="2286000" cy="914400"/>
          </a:xfrm>
          <a:prstGeom prst="roundRect">
            <a:avLst/>
          </a:prstGeom>
          <a:solidFill>
            <a:srgbClr val="F4CCCC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1F2D3D"/>
                </a:solidFill>
              </a:defRPr>
            </a:pPr>
            <a:r>
              <a:rPr dirty="0" err="1"/>
              <a:t>Стоимость</a:t>
            </a:r>
            <a:r>
              <a:rPr dirty="0"/>
              <a:t> </a:t>
            </a:r>
            <a:r>
              <a:rPr lang="en-US" dirty="0"/>
              <a:t>MVP </a:t>
            </a:r>
            <a:r>
              <a:rPr dirty="0" err="1"/>
              <a:t>проекта</a:t>
            </a:r>
            <a:br>
              <a:rPr dirty="0"/>
            </a:br>
            <a:r>
              <a:rPr lang="en-US" dirty="0"/>
              <a:t>1 </a:t>
            </a:r>
            <a:r>
              <a:rPr lang="ru-RU" dirty="0"/>
              <a:t>млн. 200 тыс. руб.</a:t>
            </a:r>
            <a:endParaRPr dirty="0"/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138B07A3-B3BA-48A2-8008-E12FE47FA1AA}"/>
              </a:ext>
            </a:extLst>
          </p:cNvPr>
          <p:cNvSpPr/>
          <p:nvPr/>
        </p:nvSpPr>
        <p:spPr>
          <a:xfrm>
            <a:off x="3191916" y="2696583"/>
            <a:ext cx="2560320" cy="914400"/>
          </a:xfrm>
          <a:prstGeom prst="roundRect">
            <a:avLst/>
          </a:prstGeom>
          <a:solidFill>
            <a:srgbClr val="E2EFDA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1F2D3D"/>
                </a:solidFill>
              </a:defRPr>
            </a:pPr>
            <a:r>
              <a:rPr dirty="0"/>
              <a:t>+14 </a:t>
            </a:r>
            <a:r>
              <a:rPr dirty="0" err="1"/>
              <a:t>дней</a:t>
            </a:r>
            <a:r>
              <a:rPr dirty="0"/>
              <a:t> </a:t>
            </a:r>
            <a:r>
              <a:rPr dirty="0" err="1"/>
              <a:t>продаж</a:t>
            </a:r>
            <a:br>
              <a:rPr dirty="0"/>
            </a:br>
            <a:r>
              <a:rPr dirty="0"/>
              <a:t>≈ </a:t>
            </a:r>
            <a:r>
              <a:rPr lang="ru-RU" dirty="0"/>
              <a:t>1 млн. 8 тыс. руб.</a:t>
            </a:r>
            <a:endParaRPr dirty="0"/>
          </a:p>
        </p:txBody>
      </p:sp>
      <p:sp>
        <p:nvSpPr>
          <p:cNvPr id="12" name="Rounded Rectangle 5">
            <a:extLst>
              <a:ext uri="{FF2B5EF4-FFF2-40B4-BE49-F238E27FC236}">
                <a16:creationId xmlns:a16="http://schemas.microsoft.com/office/drawing/2014/main" id="{719CEB5C-3BB3-47F3-A16A-EDDE8ACB41C7}"/>
              </a:ext>
            </a:extLst>
          </p:cNvPr>
          <p:cNvSpPr/>
          <p:nvPr/>
        </p:nvSpPr>
        <p:spPr>
          <a:xfrm>
            <a:off x="6155232" y="2696583"/>
            <a:ext cx="2560320" cy="914400"/>
          </a:xfrm>
          <a:prstGeom prst="roundRect">
            <a:avLst/>
          </a:prstGeom>
          <a:solidFill>
            <a:srgbClr val="E2EFDA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1F2D3D"/>
                </a:solidFill>
              </a:defRPr>
            </a:pPr>
            <a:r>
              <a:t>Дальнейший эффект</a:t>
            </a:r>
            <a:br/>
            <a:r>
              <a:t>после запуска</a:t>
            </a:r>
          </a:p>
        </p:txBody>
      </p:sp>
      <p:sp>
        <p:nvSpPr>
          <p:cNvPr id="13" name="Rounded Rectangle 6">
            <a:extLst>
              <a:ext uri="{FF2B5EF4-FFF2-40B4-BE49-F238E27FC236}">
                <a16:creationId xmlns:a16="http://schemas.microsoft.com/office/drawing/2014/main" id="{57791BA5-8732-44BF-A2C4-E0BDC46CC473}"/>
              </a:ext>
            </a:extLst>
          </p:cNvPr>
          <p:cNvSpPr/>
          <p:nvPr/>
        </p:nvSpPr>
        <p:spPr>
          <a:xfrm>
            <a:off x="9326880" y="2696583"/>
            <a:ext cx="2103120" cy="914400"/>
          </a:xfrm>
          <a:prstGeom prst="roundRect">
            <a:avLst/>
          </a:prstGeom>
          <a:solidFill>
            <a:srgbClr val="DDEBF7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F2D3D"/>
                </a:solidFill>
              </a:defRPr>
            </a:pPr>
            <a:r>
              <a:rPr dirty="0" err="1"/>
              <a:t>Пилот</a:t>
            </a:r>
            <a:r>
              <a:rPr dirty="0"/>
              <a:t> →</a:t>
            </a:r>
            <a:br>
              <a:rPr dirty="0"/>
            </a:br>
            <a:r>
              <a:rPr dirty="0" err="1"/>
              <a:t>масштаб</a:t>
            </a:r>
            <a:endParaRPr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52B4BA-02A6-42E2-BC74-C57588D20B83}"/>
              </a:ext>
            </a:extLst>
          </p:cNvPr>
          <p:cNvSpPr txBox="1"/>
          <p:nvPr/>
        </p:nvSpPr>
        <p:spPr>
          <a:xfrm>
            <a:off x="502920" y="3842882"/>
            <a:ext cx="1060704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</a:defRPr>
            </a:pPr>
            <a:r>
              <a:rPr lang="en-US" dirty="0"/>
              <a:t>L</a:t>
            </a:r>
            <a:r>
              <a:rPr dirty="0"/>
              <a:t>ead </a:t>
            </a:r>
            <a:r>
              <a:rPr lang="en-US" dirty="0"/>
              <a:t>T</a:t>
            </a:r>
            <a:r>
              <a:rPr dirty="0"/>
              <a:t>ime ≤20 </a:t>
            </a:r>
            <a:r>
              <a:rPr dirty="0" err="1"/>
              <a:t>дней</a:t>
            </a:r>
            <a:r>
              <a:rPr dirty="0"/>
              <a:t>, </a:t>
            </a:r>
            <a:r>
              <a:rPr dirty="0" err="1"/>
              <a:t>критических</a:t>
            </a:r>
            <a:r>
              <a:rPr dirty="0"/>
              <a:t> </a:t>
            </a:r>
            <a:r>
              <a:rPr dirty="0" err="1"/>
              <a:t>дефектов</a:t>
            </a:r>
            <a:r>
              <a:rPr dirty="0"/>
              <a:t> = 0, SLA ≥90%, WIP </a:t>
            </a:r>
            <a:r>
              <a:rPr dirty="0" err="1"/>
              <a:t>соблюдается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</a:defRPr>
            </a:pPr>
            <a:r>
              <a:rPr dirty="0"/>
              <a:t>ROI </a:t>
            </a:r>
            <a:r>
              <a:rPr dirty="0" err="1"/>
              <a:t>считается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фактических</a:t>
            </a:r>
            <a:r>
              <a:rPr dirty="0"/>
              <a:t> </a:t>
            </a:r>
            <a:r>
              <a:rPr dirty="0" err="1"/>
              <a:t>данных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заказам</a:t>
            </a:r>
            <a:r>
              <a:rPr dirty="0"/>
              <a:t>, </a:t>
            </a:r>
            <a:r>
              <a:rPr dirty="0" err="1"/>
              <a:t>чеку</a:t>
            </a:r>
            <a:r>
              <a:rPr dirty="0"/>
              <a:t>, </a:t>
            </a:r>
            <a:r>
              <a:rPr dirty="0" err="1"/>
              <a:t>марже</a:t>
            </a:r>
            <a:r>
              <a:rPr dirty="0"/>
              <a:t> и </a:t>
            </a:r>
            <a:r>
              <a:rPr dirty="0" err="1"/>
              <a:t>полной</a:t>
            </a:r>
            <a:r>
              <a:rPr dirty="0"/>
              <a:t> </a:t>
            </a:r>
            <a:r>
              <a:rPr dirty="0" err="1"/>
              <a:t>стоимости</a:t>
            </a:r>
            <a:r>
              <a:rPr dirty="0"/>
              <a:t> </a:t>
            </a:r>
            <a:r>
              <a:rPr dirty="0" err="1"/>
              <a:t>проекта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</a:defRPr>
            </a:pP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эффект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подтверждается</a:t>
            </a:r>
            <a:r>
              <a:rPr dirty="0"/>
              <a:t> — </a:t>
            </a:r>
            <a:r>
              <a:rPr dirty="0" err="1"/>
              <a:t>корректируем</a:t>
            </a:r>
            <a:r>
              <a:rPr dirty="0"/>
              <a:t> WIP, а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масштабируем</a:t>
            </a:r>
            <a:r>
              <a:rPr dirty="0"/>
              <a:t> </a:t>
            </a:r>
            <a:r>
              <a:rPr dirty="0" err="1"/>
              <a:t>проблему</a:t>
            </a:r>
            <a:r>
              <a:rPr dirty="0"/>
              <a:t>.</a:t>
            </a:r>
          </a:p>
        </p:txBody>
      </p:sp>
      <p:sp>
        <p:nvSpPr>
          <p:cNvPr id="16" name="Rectangle 5">
            <a:extLst>
              <a:ext uri="{FF2B5EF4-FFF2-40B4-BE49-F238E27FC236}">
                <a16:creationId xmlns:a16="http://schemas.microsoft.com/office/drawing/2014/main" id="{DB4752AE-4BC5-4F8F-B7A7-737B8A1459E0}"/>
              </a:ext>
            </a:extLst>
          </p:cNvPr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BBA6741-892E-4000-83E4-06C7C66F5999}"/>
              </a:ext>
            </a:extLst>
          </p:cNvPr>
          <p:cNvSpPr/>
          <p:nvPr/>
        </p:nvSpPr>
        <p:spPr>
          <a:xfrm>
            <a:off x="1080312" y="5839560"/>
            <a:ext cx="10149840" cy="685800"/>
          </a:xfrm>
          <a:prstGeom prst="roundRect">
            <a:avLst/>
          </a:prstGeom>
          <a:solidFill>
            <a:srgbClr val="E2EFDA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F2D3D"/>
                </a:solidFill>
              </a:defRPr>
            </a:pPr>
            <a:r>
              <a:t>Критерий успеха: продукт выходит быстрее без роста ошибок и стоимости сопровождения.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A52C9E-9C14-4697-9FC8-06027DD8B4B0}"/>
              </a:ext>
            </a:extLst>
          </p:cNvPr>
          <p:cNvSpPr txBox="1"/>
          <p:nvPr/>
        </p:nvSpPr>
        <p:spPr>
          <a:xfrm>
            <a:off x="530352" y="2262133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95959"/>
                </a:solidFill>
              </a:defRPr>
            </a:pPr>
            <a:r>
              <a:rPr dirty="0" err="1"/>
              <a:t>Инвестируем</a:t>
            </a:r>
            <a:r>
              <a:rPr dirty="0"/>
              <a:t> в </a:t>
            </a:r>
            <a:r>
              <a:rPr dirty="0" err="1"/>
              <a:t>более</a:t>
            </a:r>
            <a:r>
              <a:rPr dirty="0"/>
              <a:t> </a:t>
            </a:r>
            <a:r>
              <a:rPr dirty="0" err="1"/>
              <a:t>раннее</a:t>
            </a:r>
            <a:r>
              <a:rPr dirty="0"/>
              <a:t> </a:t>
            </a:r>
            <a:r>
              <a:rPr dirty="0" err="1"/>
              <a:t>получение</a:t>
            </a:r>
            <a:r>
              <a:rPr dirty="0"/>
              <a:t> </a:t>
            </a:r>
            <a:r>
              <a:rPr dirty="0" err="1"/>
              <a:t>ценности</a:t>
            </a:r>
            <a:endParaRPr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FE6752-48BC-49B3-A342-D56B84A603DD}"/>
              </a:ext>
            </a:extLst>
          </p:cNvPr>
          <p:cNvSpPr txBox="1"/>
          <p:nvPr/>
        </p:nvSpPr>
        <p:spPr>
          <a:xfrm>
            <a:off x="11587117" y="6647688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lang="en-US" dirty="0"/>
              <a:t>16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759523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6562630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3D"/>
                </a:solidFill>
              </a:defRPr>
            </a:pPr>
            <a:r>
              <a:rPr dirty="0" err="1"/>
              <a:t>Решение</a:t>
            </a:r>
            <a:r>
              <a:rPr dirty="0"/>
              <a:t>, </a:t>
            </a:r>
            <a:r>
              <a:rPr dirty="0" err="1"/>
              <a:t>которое</a:t>
            </a:r>
            <a:r>
              <a:rPr dirty="0"/>
              <a:t> </a:t>
            </a:r>
            <a:r>
              <a:rPr dirty="0" err="1"/>
              <a:t>требуется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руководства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98480" cy="2634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dirty="0" err="1"/>
              <a:t>Утвердить</a:t>
            </a:r>
            <a:r>
              <a:rPr dirty="0"/>
              <a:t> Kanban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целевую</a:t>
            </a:r>
            <a:r>
              <a:rPr dirty="0"/>
              <a:t> </a:t>
            </a:r>
            <a:r>
              <a:rPr dirty="0" err="1"/>
              <a:t>методологию</a:t>
            </a:r>
            <a:r>
              <a:rPr dirty="0"/>
              <a:t> </a:t>
            </a:r>
            <a:r>
              <a:rPr dirty="0" err="1"/>
              <a:t>управления</a:t>
            </a:r>
            <a:r>
              <a:rPr dirty="0"/>
              <a:t> </a:t>
            </a:r>
            <a:r>
              <a:rPr dirty="0" err="1"/>
              <a:t>потоком</a:t>
            </a:r>
            <a:r>
              <a:rPr dirty="0"/>
              <a:t> </a:t>
            </a:r>
            <a:r>
              <a:rPr dirty="0" err="1"/>
              <a:t>внедрения</a:t>
            </a:r>
            <a:r>
              <a:rPr dirty="0"/>
              <a:t> </a:t>
            </a:r>
            <a:r>
              <a:rPr dirty="0" err="1"/>
              <a:t>новых</a:t>
            </a:r>
            <a:r>
              <a:rPr dirty="0"/>
              <a:t> </a:t>
            </a:r>
            <a:r>
              <a:rPr dirty="0" err="1"/>
              <a:t>продуктов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dirty="0" err="1"/>
              <a:t>Назначить</a:t>
            </a:r>
            <a:r>
              <a:rPr dirty="0"/>
              <a:t> </a:t>
            </a:r>
            <a:r>
              <a:rPr lang="ru-RU" dirty="0"/>
              <a:t>руководителя проекта</a:t>
            </a:r>
            <a:r>
              <a:rPr dirty="0"/>
              <a:t> с </a:t>
            </a:r>
            <a:r>
              <a:rPr dirty="0" err="1"/>
              <a:t>полномочиями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приоритетам</a:t>
            </a:r>
            <a:r>
              <a:rPr dirty="0"/>
              <a:t> и </a:t>
            </a:r>
            <a:r>
              <a:rPr dirty="0" err="1"/>
              <a:t>межфункциональным</a:t>
            </a:r>
            <a:r>
              <a:rPr dirty="0"/>
              <a:t> </a:t>
            </a:r>
            <a:r>
              <a:rPr dirty="0" err="1"/>
              <a:t>эскалациям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dirty="0" err="1"/>
              <a:t>Утвердить</a:t>
            </a:r>
            <a:r>
              <a:rPr dirty="0"/>
              <a:t> </a:t>
            </a:r>
            <a:r>
              <a:rPr dirty="0" err="1"/>
              <a:t>единый</a:t>
            </a:r>
            <a:r>
              <a:rPr dirty="0"/>
              <a:t> </a:t>
            </a:r>
            <a:r>
              <a:rPr dirty="0" err="1"/>
              <a:t>источник</a:t>
            </a:r>
            <a:r>
              <a:rPr dirty="0"/>
              <a:t> </a:t>
            </a:r>
            <a:r>
              <a:rPr dirty="0" err="1"/>
              <a:t>требований</a:t>
            </a:r>
            <a:r>
              <a:rPr dirty="0"/>
              <a:t> и </a:t>
            </a:r>
            <a:r>
              <a:rPr dirty="0" err="1"/>
              <a:t>запретить</a:t>
            </a:r>
            <a:r>
              <a:rPr dirty="0"/>
              <a:t> </a:t>
            </a:r>
            <a:r>
              <a:rPr dirty="0" err="1"/>
              <a:t>параллельные</a:t>
            </a:r>
            <a:r>
              <a:rPr dirty="0"/>
              <a:t> </a:t>
            </a:r>
            <a:r>
              <a:rPr dirty="0" err="1"/>
              <a:t>неформальные</a:t>
            </a:r>
            <a:r>
              <a:rPr dirty="0"/>
              <a:t> </a:t>
            </a:r>
            <a:r>
              <a:rPr dirty="0" err="1"/>
              <a:t>каналы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основной</a:t>
            </a:r>
            <a:r>
              <a:rPr dirty="0"/>
              <a:t> </a:t>
            </a:r>
            <a:r>
              <a:rPr dirty="0" err="1"/>
              <a:t>способ</a:t>
            </a:r>
            <a:r>
              <a:rPr dirty="0"/>
              <a:t> </a:t>
            </a:r>
            <a:r>
              <a:rPr dirty="0" err="1"/>
              <a:t>передачи</a:t>
            </a:r>
            <a:r>
              <a:rPr dirty="0"/>
              <a:t> </a:t>
            </a:r>
            <a:r>
              <a:rPr dirty="0" err="1"/>
              <a:t>задач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dirty="0" err="1"/>
              <a:t>Выделить</a:t>
            </a:r>
            <a:r>
              <a:rPr dirty="0"/>
              <a:t> </a:t>
            </a:r>
            <a:r>
              <a:rPr dirty="0" err="1"/>
              <a:t>ключевых</a:t>
            </a:r>
            <a:r>
              <a:rPr dirty="0"/>
              <a:t> </a:t>
            </a:r>
            <a:r>
              <a:rPr dirty="0" err="1"/>
              <a:t>специалистов</a:t>
            </a:r>
            <a:r>
              <a:rPr dirty="0"/>
              <a:t> с </a:t>
            </a:r>
            <a:r>
              <a:rPr dirty="0" err="1"/>
              <a:t>ограниченным</a:t>
            </a:r>
            <a:r>
              <a:rPr dirty="0"/>
              <a:t> WIP 1–2 </a:t>
            </a:r>
            <a:r>
              <a:rPr dirty="0" err="1"/>
              <a:t>задачи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человека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dirty="0" err="1"/>
              <a:t>Разрешить</a:t>
            </a:r>
            <a:r>
              <a:rPr dirty="0"/>
              <a:t> </a:t>
            </a:r>
            <a:r>
              <a:rPr dirty="0" err="1"/>
              <a:t>пилот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одном</a:t>
            </a:r>
            <a:r>
              <a:rPr dirty="0"/>
              <a:t> </a:t>
            </a:r>
            <a:r>
              <a:rPr dirty="0" err="1"/>
              <a:t>новом</a:t>
            </a:r>
            <a:r>
              <a:rPr dirty="0"/>
              <a:t> </a:t>
            </a:r>
            <a:r>
              <a:rPr dirty="0" err="1"/>
              <a:t>продукте</a:t>
            </a:r>
            <a:r>
              <a:rPr dirty="0"/>
              <a:t> и </a:t>
            </a:r>
            <a:r>
              <a:rPr dirty="0" err="1"/>
              <a:t>измерить</a:t>
            </a:r>
            <a:r>
              <a:rPr dirty="0"/>
              <a:t> </a:t>
            </a:r>
            <a:r>
              <a:rPr dirty="0" err="1"/>
              <a:t>результат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Lead Time, Blocked Time, SLA и </a:t>
            </a:r>
            <a:r>
              <a:rPr dirty="0" err="1"/>
              <a:t>стоимости</a:t>
            </a:r>
            <a:r>
              <a:rPr dirty="0"/>
              <a:t>.</a:t>
            </a:r>
          </a:p>
          <a:p>
            <a:pPr>
              <a:spcAft>
                <a:spcPts val="700"/>
              </a:spcAft>
              <a:defRPr sz="1700">
                <a:solidFill>
                  <a:srgbClr val="141414"/>
                </a:solidFill>
              </a:defRPr>
            </a:pPr>
            <a:r>
              <a:rPr lang="ru-RU"/>
              <a:t>После успешного </a:t>
            </a:r>
            <a:r>
              <a:rPr lang="ru-RU" dirty="0"/>
              <a:t>пилота — реализовать целевую архитектуру с построением полноценной интеграционной платформы и масштабировать процесс на всю сеть.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560" y="5920740"/>
            <a:ext cx="10058400" cy="594360"/>
          </a:xfrm>
          <a:prstGeom prst="roundRect">
            <a:avLst/>
          </a:prstGeom>
          <a:solidFill>
            <a:srgbClr val="2E75B6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1F2D3D"/>
                </a:solidFill>
              </a:defRPr>
            </a:pPr>
            <a:r>
              <a:rPr dirty="0" err="1"/>
              <a:t>Ожидаемый</a:t>
            </a:r>
            <a:r>
              <a:rPr dirty="0"/>
              <a:t> </a:t>
            </a:r>
            <a:r>
              <a:rPr dirty="0" err="1"/>
              <a:t>результат</a:t>
            </a:r>
            <a:r>
              <a:rPr dirty="0"/>
              <a:t>: </a:t>
            </a:r>
            <a:r>
              <a:rPr dirty="0" err="1"/>
              <a:t>предсказуемое</a:t>
            </a:r>
            <a:r>
              <a:rPr dirty="0"/>
              <a:t> </a:t>
            </a:r>
            <a:r>
              <a:rPr dirty="0" err="1"/>
              <a:t>внедрение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14–20 </a:t>
            </a:r>
            <a:r>
              <a:rPr dirty="0" err="1"/>
              <a:t>рабочих</a:t>
            </a:r>
            <a:r>
              <a:rPr dirty="0"/>
              <a:t> </a:t>
            </a:r>
            <a:r>
              <a:rPr dirty="0" err="1"/>
              <a:t>дней</a:t>
            </a:r>
            <a:r>
              <a:rPr dirty="0"/>
              <a:t> </a:t>
            </a:r>
            <a:r>
              <a:rPr dirty="0" err="1"/>
              <a:t>вместо</a:t>
            </a:r>
            <a:r>
              <a:rPr dirty="0"/>
              <a:t> 30+.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87117" y="6647688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rPr dirty="0"/>
              <a:t>1</a:t>
            </a:r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658</TotalTime>
  <Words>1685</Words>
  <Application>Microsoft Office PowerPoint</Application>
  <PresentationFormat>Широкоэкранный</PresentationFormat>
  <Paragraphs>368</Paragraphs>
  <Slides>17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17</vt:i4>
      </vt:variant>
    </vt:vector>
  </HeadingPairs>
  <TitlesOfParts>
    <vt:vector size="23" baseType="lpstr">
      <vt:lpstr>Arial</vt:lpstr>
      <vt:lpstr>Calibri</vt:lpstr>
      <vt:lpstr>Courier New</vt:lpstr>
      <vt:lpstr>Roboto</vt:lpstr>
      <vt:lpstr>Office Theme</vt:lpstr>
      <vt:lpstr>Светлая тема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Roman Kharlamov</dc:creator>
  <cp:keywords/>
  <dc:description>generated using python-pptx</dc:description>
  <cp:lastModifiedBy>Roman Kharlamov</cp:lastModifiedBy>
  <cp:revision>28</cp:revision>
  <dcterms:created xsi:type="dcterms:W3CDTF">2013-01-27T09:14:16Z</dcterms:created>
  <dcterms:modified xsi:type="dcterms:W3CDTF">2026-09-03T13:33:42Z</dcterms:modified>
  <cp:category/>
</cp:coreProperties>
</file>